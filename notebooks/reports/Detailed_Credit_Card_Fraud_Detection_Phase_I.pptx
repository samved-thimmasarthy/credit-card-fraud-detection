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jpg" ContentType="image/jp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
    <p:sldId id="257" r:id="rId3"/>
    <p:sldId id="258" r:id="rId4"/>
    <p:sldId id="259" r:id="rId5"/>
    <p:sldId id="260" r:id="rId6"/>
    <p:sldId id="261" r:id="rId7"/>
    <p:sldId id="262" r:id="rId8"/>
    <p:sldId id="265" r:id="rId9"/>
    <p:sldId id="263" r:id="rId10"/>
    <p:sldId id="264"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1321"/>
    <a:srgbClr val="741D1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1203"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FFDCD9-4DF7-4EBF-835C-9A3C07D3F3D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971755A-B4E5-4230-B996-3847873624F2}">
      <dgm:prSet/>
      <dgm:spPr/>
      <dgm:t>
        <a:bodyPr/>
        <a:lstStyle/>
        <a:p>
          <a:pPr>
            <a:lnSpc>
              <a:spcPct val="100000"/>
            </a:lnSpc>
          </a:pPr>
          <a:r>
            <a:rPr lang="en-US"/>
            <a:t>Developed a scalable pipeline for fraud detection.</a:t>
          </a:r>
        </a:p>
      </dgm:t>
    </dgm:pt>
    <dgm:pt modelId="{68951897-E87D-46ED-A6B4-84580381B8A3}" type="parTrans" cxnId="{FB96D06E-A551-4494-9AB0-06655F45B5D0}">
      <dgm:prSet/>
      <dgm:spPr/>
      <dgm:t>
        <a:bodyPr/>
        <a:lstStyle/>
        <a:p>
          <a:endParaRPr lang="en-US"/>
        </a:p>
      </dgm:t>
    </dgm:pt>
    <dgm:pt modelId="{8A5E79A4-894D-4AE8-B984-02D5A111C29D}" type="sibTrans" cxnId="{FB96D06E-A551-4494-9AB0-06655F45B5D0}">
      <dgm:prSet/>
      <dgm:spPr/>
      <dgm:t>
        <a:bodyPr/>
        <a:lstStyle/>
        <a:p>
          <a:endParaRPr lang="en-US"/>
        </a:p>
      </dgm:t>
    </dgm:pt>
    <dgm:pt modelId="{7B8E5651-6C8B-476B-A792-84061FEAD680}">
      <dgm:prSet/>
      <dgm:spPr/>
      <dgm:t>
        <a:bodyPr/>
        <a:lstStyle/>
        <a:p>
          <a:pPr>
            <a:lnSpc>
              <a:spcPct val="100000"/>
            </a:lnSpc>
          </a:pPr>
          <a:r>
            <a:rPr lang="en-US"/>
            <a:t>Addressed foundational challenges in class imbalance.</a:t>
          </a:r>
        </a:p>
      </dgm:t>
    </dgm:pt>
    <dgm:pt modelId="{21D211AE-B619-437D-8AA1-E668CEA37F27}" type="parTrans" cxnId="{19B0ECA5-84E8-479E-A941-C515A38F436F}">
      <dgm:prSet/>
      <dgm:spPr/>
      <dgm:t>
        <a:bodyPr/>
        <a:lstStyle/>
        <a:p>
          <a:endParaRPr lang="en-US"/>
        </a:p>
      </dgm:t>
    </dgm:pt>
    <dgm:pt modelId="{10815563-3C77-4803-853D-F2DA43ED700B}" type="sibTrans" cxnId="{19B0ECA5-84E8-479E-A941-C515A38F436F}">
      <dgm:prSet/>
      <dgm:spPr/>
      <dgm:t>
        <a:bodyPr/>
        <a:lstStyle/>
        <a:p>
          <a:endParaRPr lang="en-US"/>
        </a:p>
      </dgm:t>
    </dgm:pt>
    <dgm:pt modelId="{9389274C-6BA2-4229-A2D9-ACCECFF9672D}">
      <dgm:prSet/>
      <dgm:spPr/>
      <dgm:t>
        <a:bodyPr/>
        <a:lstStyle/>
        <a:p>
          <a:pPr>
            <a:lnSpc>
              <a:spcPct val="100000"/>
            </a:lnSpc>
          </a:pPr>
          <a:r>
            <a:rPr lang="en-US"/>
            <a:t>Provided actionable insights for Phase II improvements.</a:t>
          </a:r>
        </a:p>
      </dgm:t>
    </dgm:pt>
    <dgm:pt modelId="{28869B72-9968-4EEC-8AAD-E8B22416328F}" type="parTrans" cxnId="{1ACCEE0F-5A76-4664-8A0B-9C68FF86034E}">
      <dgm:prSet/>
      <dgm:spPr/>
      <dgm:t>
        <a:bodyPr/>
        <a:lstStyle/>
        <a:p>
          <a:endParaRPr lang="en-US"/>
        </a:p>
      </dgm:t>
    </dgm:pt>
    <dgm:pt modelId="{4F4BA9F7-6CE8-4236-9527-C16A023B8AA2}" type="sibTrans" cxnId="{1ACCEE0F-5A76-4664-8A0B-9C68FF86034E}">
      <dgm:prSet/>
      <dgm:spPr/>
      <dgm:t>
        <a:bodyPr/>
        <a:lstStyle/>
        <a:p>
          <a:endParaRPr lang="en-US"/>
        </a:p>
      </dgm:t>
    </dgm:pt>
    <dgm:pt modelId="{5B185A8E-8313-4544-A6B7-C7DC50579F0B}">
      <dgm:prSet/>
      <dgm:spPr/>
      <dgm:t>
        <a:bodyPr/>
        <a:lstStyle/>
        <a:p>
          <a:pPr>
            <a:lnSpc>
              <a:spcPct val="100000"/>
            </a:lnSpc>
          </a:pPr>
          <a:r>
            <a:rPr lang="en-US"/>
            <a:t>Established robust evaluation methods for fraud detection.</a:t>
          </a:r>
        </a:p>
      </dgm:t>
    </dgm:pt>
    <dgm:pt modelId="{D917E490-2388-4E10-9A87-2D6CC05913FE}" type="parTrans" cxnId="{85748BF3-89EA-4E2E-96FD-A26008CCD4B5}">
      <dgm:prSet/>
      <dgm:spPr/>
      <dgm:t>
        <a:bodyPr/>
        <a:lstStyle/>
        <a:p>
          <a:endParaRPr lang="en-US"/>
        </a:p>
      </dgm:t>
    </dgm:pt>
    <dgm:pt modelId="{6D460E64-00F1-435C-899A-B3C546E49D14}" type="sibTrans" cxnId="{85748BF3-89EA-4E2E-96FD-A26008CCD4B5}">
      <dgm:prSet/>
      <dgm:spPr/>
      <dgm:t>
        <a:bodyPr/>
        <a:lstStyle/>
        <a:p>
          <a:endParaRPr lang="en-US"/>
        </a:p>
      </dgm:t>
    </dgm:pt>
    <dgm:pt modelId="{D1E0CA96-3393-42CB-857D-C63DE466C485}" type="pres">
      <dgm:prSet presAssocID="{A4FFDCD9-4DF7-4EBF-835C-9A3C07D3F3D9}" presName="root" presStyleCnt="0">
        <dgm:presLayoutVars>
          <dgm:dir/>
          <dgm:resizeHandles val="exact"/>
        </dgm:presLayoutVars>
      </dgm:prSet>
      <dgm:spPr/>
    </dgm:pt>
    <dgm:pt modelId="{235459B3-A912-495D-BF3D-8C18DADC2484}" type="pres">
      <dgm:prSet presAssocID="{7971755A-B4E5-4230-B996-3847873624F2}" presName="compNode" presStyleCnt="0"/>
      <dgm:spPr/>
    </dgm:pt>
    <dgm:pt modelId="{720E6ED1-B37F-4DEF-A5B1-AB903DA31B96}" type="pres">
      <dgm:prSet presAssocID="{7971755A-B4E5-4230-B996-3847873624F2}" presName="bgRect" presStyleLbl="bgShp" presStyleIdx="0" presStyleCnt="4"/>
      <dgm:spPr/>
    </dgm:pt>
    <dgm:pt modelId="{68CB5B9E-6236-4249-890A-0FD837D288E6}" type="pres">
      <dgm:prSet presAssocID="{7971755A-B4E5-4230-B996-3847873624F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ber"/>
        </a:ext>
      </dgm:extLst>
    </dgm:pt>
    <dgm:pt modelId="{84C00F49-EF4C-4DD5-AB0F-49524798D282}" type="pres">
      <dgm:prSet presAssocID="{7971755A-B4E5-4230-B996-3847873624F2}" presName="spaceRect" presStyleCnt="0"/>
      <dgm:spPr/>
    </dgm:pt>
    <dgm:pt modelId="{5F13EEC7-1DE4-45D1-A349-2E530B3E2942}" type="pres">
      <dgm:prSet presAssocID="{7971755A-B4E5-4230-B996-3847873624F2}" presName="parTx" presStyleLbl="revTx" presStyleIdx="0" presStyleCnt="4">
        <dgm:presLayoutVars>
          <dgm:chMax val="0"/>
          <dgm:chPref val="0"/>
        </dgm:presLayoutVars>
      </dgm:prSet>
      <dgm:spPr/>
    </dgm:pt>
    <dgm:pt modelId="{55E3E4E7-1FC3-46D1-AA93-B86F8091F9DC}" type="pres">
      <dgm:prSet presAssocID="{8A5E79A4-894D-4AE8-B984-02D5A111C29D}" presName="sibTrans" presStyleCnt="0"/>
      <dgm:spPr/>
    </dgm:pt>
    <dgm:pt modelId="{6FAD08F9-9520-4DDD-9684-DE931556E837}" type="pres">
      <dgm:prSet presAssocID="{7B8E5651-6C8B-476B-A792-84061FEAD680}" presName="compNode" presStyleCnt="0"/>
      <dgm:spPr/>
    </dgm:pt>
    <dgm:pt modelId="{91FF5F41-15FD-4EE3-8948-F8F53DF32A3A}" type="pres">
      <dgm:prSet presAssocID="{7B8E5651-6C8B-476B-A792-84061FEAD680}" presName="bgRect" presStyleLbl="bgShp" presStyleIdx="1" presStyleCnt="4"/>
      <dgm:spPr/>
    </dgm:pt>
    <dgm:pt modelId="{BA98D8EB-7089-4770-A4B1-8A7F5E170444}" type="pres">
      <dgm:prSet presAssocID="{7B8E5651-6C8B-476B-A792-84061FEAD68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cales of Justice"/>
        </a:ext>
      </dgm:extLst>
    </dgm:pt>
    <dgm:pt modelId="{3056C766-BFA7-41BC-AA83-51523A564F13}" type="pres">
      <dgm:prSet presAssocID="{7B8E5651-6C8B-476B-A792-84061FEAD680}" presName="spaceRect" presStyleCnt="0"/>
      <dgm:spPr/>
    </dgm:pt>
    <dgm:pt modelId="{8728BC53-1C0A-488C-B266-14064483AEC8}" type="pres">
      <dgm:prSet presAssocID="{7B8E5651-6C8B-476B-A792-84061FEAD680}" presName="parTx" presStyleLbl="revTx" presStyleIdx="1" presStyleCnt="4">
        <dgm:presLayoutVars>
          <dgm:chMax val="0"/>
          <dgm:chPref val="0"/>
        </dgm:presLayoutVars>
      </dgm:prSet>
      <dgm:spPr/>
    </dgm:pt>
    <dgm:pt modelId="{7B641EF2-8999-4CF2-BD4B-CA31F0E8F6AF}" type="pres">
      <dgm:prSet presAssocID="{10815563-3C77-4803-853D-F2DA43ED700B}" presName="sibTrans" presStyleCnt="0"/>
      <dgm:spPr/>
    </dgm:pt>
    <dgm:pt modelId="{F26B3292-E4A6-4B10-AA6E-EECC73952668}" type="pres">
      <dgm:prSet presAssocID="{9389274C-6BA2-4229-A2D9-ACCECFF9672D}" presName="compNode" presStyleCnt="0"/>
      <dgm:spPr/>
    </dgm:pt>
    <dgm:pt modelId="{FC66E7D1-916A-4B8A-B0C2-65C80058C842}" type="pres">
      <dgm:prSet presAssocID="{9389274C-6BA2-4229-A2D9-ACCECFF9672D}" presName="bgRect" presStyleLbl="bgShp" presStyleIdx="2" presStyleCnt="4"/>
      <dgm:spPr/>
    </dgm:pt>
    <dgm:pt modelId="{D4DEC63F-705F-458C-AB68-B943B3F96EFD}" type="pres">
      <dgm:prSet presAssocID="{9389274C-6BA2-4229-A2D9-ACCECFF9672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07A22F1C-D6BB-4C2D-AE0D-8182BE37283E}" type="pres">
      <dgm:prSet presAssocID="{9389274C-6BA2-4229-A2D9-ACCECFF9672D}" presName="spaceRect" presStyleCnt="0"/>
      <dgm:spPr/>
    </dgm:pt>
    <dgm:pt modelId="{3CABF4FE-CF80-4CDE-827E-EAB71F1EAB20}" type="pres">
      <dgm:prSet presAssocID="{9389274C-6BA2-4229-A2D9-ACCECFF9672D}" presName="parTx" presStyleLbl="revTx" presStyleIdx="2" presStyleCnt="4">
        <dgm:presLayoutVars>
          <dgm:chMax val="0"/>
          <dgm:chPref val="0"/>
        </dgm:presLayoutVars>
      </dgm:prSet>
      <dgm:spPr/>
    </dgm:pt>
    <dgm:pt modelId="{87C41698-7185-4376-BD8B-53EB80D8C49E}" type="pres">
      <dgm:prSet presAssocID="{4F4BA9F7-6CE8-4236-9527-C16A023B8AA2}" presName="sibTrans" presStyleCnt="0"/>
      <dgm:spPr/>
    </dgm:pt>
    <dgm:pt modelId="{421F2D3C-2B31-4CF5-BE34-3844BF5C5893}" type="pres">
      <dgm:prSet presAssocID="{5B185A8E-8313-4544-A6B7-C7DC50579F0B}" presName="compNode" presStyleCnt="0"/>
      <dgm:spPr/>
    </dgm:pt>
    <dgm:pt modelId="{2112FC09-2949-43C9-88E8-AD063568BB58}" type="pres">
      <dgm:prSet presAssocID="{5B185A8E-8313-4544-A6B7-C7DC50579F0B}" presName="bgRect" presStyleLbl="bgShp" presStyleIdx="3" presStyleCnt="4"/>
      <dgm:spPr/>
    </dgm:pt>
    <dgm:pt modelId="{61FF1842-EB85-4B5B-8AC4-2940035A1661}" type="pres">
      <dgm:prSet presAssocID="{5B185A8E-8313-4544-A6B7-C7DC50579F0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ock"/>
        </a:ext>
      </dgm:extLst>
    </dgm:pt>
    <dgm:pt modelId="{013B8A88-B10D-48D3-940B-2E170E25DC00}" type="pres">
      <dgm:prSet presAssocID="{5B185A8E-8313-4544-A6B7-C7DC50579F0B}" presName="spaceRect" presStyleCnt="0"/>
      <dgm:spPr/>
    </dgm:pt>
    <dgm:pt modelId="{BE437454-B8EF-48EB-B79D-5DE4204A4E69}" type="pres">
      <dgm:prSet presAssocID="{5B185A8E-8313-4544-A6B7-C7DC50579F0B}" presName="parTx" presStyleLbl="revTx" presStyleIdx="3" presStyleCnt="4">
        <dgm:presLayoutVars>
          <dgm:chMax val="0"/>
          <dgm:chPref val="0"/>
        </dgm:presLayoutVars>
      </dgm:prSet>
      <dgm:spPr/>
    </dgm:pt>
  </dgm:ptLst>
  <dgm:cxnLst>
    <dgm:cxn modelId="{1ACCEE0F-5A76-4664-8A0B-9C68FF86034E}" srcId="{A4FFDCD9-4DF7-4EBF-835C-9A3C07D3F3D9}" destId="{9389274C-6BA2-4229-A2D9-ACCECFF9672D}" srcOrd="2" destOrd="0" parTransId="{28869B72-9968-4EEC-8AAD-E8B22416328F}" sibTransId="{4F4BA9F7-6CE8-4236-9527-C16A023B8AA2}"/>
    <dgm:cxn modelId="{C9F20522-579F-46B7-A3B5-8F982C344DAF}" type="presOf" srcId="{7B8E5651-6C8B-476B-A792-84061FEAD680}" destId="{8728BC53-1C0A-488C-B266-14064483AEC8}" srcOrd="0" destOrd="0" presId="urn:microsoft.com/office/officeart/2018/2/layout/IconVerticalSolidList"/>
    <dgm:cxn modelId="{18A0B74D-723A-4A44-8682-130F8CC9E5BA}" type="presOf" srcId="{A4FFDCD9-4DF7-4EBF-835C-9A3C07D3F3D9}" destId="{D1E0CA96-3393-42CB-857D-C63DE466C485}" srcOrd="0" destOrd="0" presId="urn:microsoft.com/office/officeart/2018/2/layout/IconVerticalSolidList"/>
    <dgm:cxn modelId="{FB96D06E-A551-4494-9AB0-06655F45B5D0}" srcId="{A4FFDCD9-4DF7-4EBF-835C-9A3C07D3F3D9}" destId="{7971755A-B4E5-4230-B996-3847873624F2}" srcOrd="0" destOrd="0" parTransId="{68951897-E87D-46ED-A6B4-84580381B8A3}" sibTransId="{8A5E79A4-894D-4AE8-B984-02D5A111C29D}"/>
    <dgm:cxn modelId="{DC0F6B8C-A9DD-4C7D-9063-A04EE76E07D6}" type="presOf" srcId="{5B185A8E-8313-4544-A6B7-C7DC50579F0B}" destId="{BE437454-B8EF-48EB-B79D-5DE4204A4E69}" srcOrd="0" destOrd="0" presId="urn:microsoft.com/office/officeart/2018/2/layout/IconVerticalSolidList"/>
    <dgm:cxn modelId="{33856A94-C254-4E59-BE21-AA19429EDF18}" type="presOf" srcId="{7971755A-B4E5-4230-B996-3847873624F2}" destId="{5F13EEC7-1DE4-45D1-A349-2E530B3E2942}" srcOrd="0" destOrd="0" presId="urn:microsoft.com/office/officeart/2018/2/layout/IconVerticalSolidList"/>
    <dgm:cxn modelId="{19B0ECA5-84E8-479E-A941-C515A38F436F}" srcId="{A4FFDCD9-4DF7-4EBF-835C-9A3C07D3F3D9}" destId="{7B8E5651-6C8B-476B-A792-84061FEAD680}" srcOrd="1" destOrd="0" parTransId="{21D211AE-B619-437D-8AA1-E668CEA37F27}" sibTransId="{10815563-3C77-4803-853D-F2DA43ED700B}"/>
    <dgm:cxn modelId="{B18FC4D4-D9EF-41F9-A80A-27CF624E1561}" type="presOf" srcId="{9389274C-6BA2-4229-A2D9-ACCECFF9672D}" destId="{3CABF4FE-CF80-4CDE-827E-EAB71F1EAB20}" srcOrd="0" destOrd="0" presId="urn:microsoft.com/office/officeart/2018/2/layout/IconVerticalSolidList"/>
    <dgm:cxn modelId="{85748BF3-89EA-4E2E-96FD-A26008CCD4B5}" srcId="{A4FFDCD9-4DF7-4EBF-835C-9A3C07D3F3D9}" destId="{5B185A8E-8313-4544-A6B7-C7DC50579F0B}" srcOrd="3" destOrd="0" parTransId="{D917E490-2388-4E10-9A87-2D6CC05913FE}" sibTransId="{6D460E64-00F1-435C-899A-B3C546E49D14}"/>
    <dgm:cxn modelId="{477D36E1-BEB5-489D-A8C9-D33C799864F1}" type="presParOf" srcId="{D1E0CA96-3393-42CB-857D-C63DE466C485}" destId="{235459B3-A912-495D-BF3D-8C18DADC2484}" srcOrd="0" destOrd="0" presId="urn:microsoft.com/office/officeart/2018/2/layout/IconVerticalSolidList"/>
    <dgm:cxn modelId="{9A2C7BCE-EE80-4161-B788-EF8DEA3DB18E}" type="presParOf" srcId="{235459B3-A912-495D-BF3D-8C18DADC2484}" destId="{720E6ED1-B37F-4DEF-A5B1-AB903DA31B96}" srcOrd="0" destOrd="0" presId="urn:microsoft.com/office/officeart/2018/2/layout/IconVerticalSolidList"/>
    <dgm:cxn modelId="{27C41FE3-16B7-4D5A-B030-0C39BE8389AB}" type="presParOf" srcId="{235459B3-A912-495D-BF3D-8C18DADC2484}" destId="{68CB5B9E-6236-4249-890A-0FD837D288E6}" srcOrd="1" destOrd="0" presId="urn:microsoft.com/office/officeart/2018/2/layout/IconVerticalSolidList"/>
    <dgm:cxn modelId="{FE554811-C988-4F0D-A3CC-4A1EE915BA5A}" type="presParOf" srcId="{235459B3-A912-495D-BF3D-8C18DADC2484}" destId="{84C00F49-EF4C-4DD5-AB0F-49524798D282}" srcOrd="2" destOrd="0" presId="urn:microsoft.com/office/officeart/2018/2/layout/IconVerticalSolidList"/>
    <dgm:cxn modelId="{CB568883-347F-4F13-A6EF-C8F07C8AF430}" type="presParOf" srcId="{235459B3-A912-495D-BF3D-8C18DADC2484}" destId="{5F13EEC7-1DE4-45D1-A349-2E530B3E2942}" srcOrd="3" destOrd="0" presId="urn:microsoft.com/office/officeart/2018/2/layout/IconVerticalSolidList"/>
    <dgm:cxn modelId="{656D9744-57D8-438F-BBEB-302AE9B54CCB}" type="presParOf" srcId="{D1E0CA96-3393-42CB-857D-C63DE466C485}" destId="{55E3E4E7-1FC3-46D1-AA93-B86F8091F9DC}" srcOrd="1" destOrd="0" presId="urn:microsoft.com/office/officeart/2018/2/layout/IconVerticalSolidList"/>
    <dgm:cxn modelId="{861C6DF9-DAB3-4986-814F-E4989E8E7DDD}" type="presParOf" srcId="{D1E0CA96-3393-42CB-857D-C63DE466C485}" destId="{6FAD08F9-9520-4DDD-9684-DE931556E837}" srcOrd="2" destOrd="0" presId="urn:microsoft.com/office/officeart/2018/2/layout/IconVerticalSolidList"/>
    <dgm:cxn modelId="{93000D2E-499A-4B1D-90D8-17B2FCFD3FBF}" type="presParOf" srcId="{6FAD08F9-9520-4DDD-9684-DE931556E837}" destId="{91FF5F41-15FD-4EE3-8948-F8F53DF32A3A}" srcOrd="0" destOrd="0" presId="urn:microsoft.com/office/officeart/2018/2/layout/IconVerticalSolidList"/>
    <dgm:cxn modelId="{B48C6033-D930-4B80-A410-2E613DD369D2}" type="presParOf" srcId="{6FAD08F9-9520-4DDD-9684-DE931556E837}" destId="{BA98D8EB-7089-4770-A4B1-8A7F5E170444}" srcOrd="1" destOrd="0" presId="urn:microsoft.com/office/officeart/2018/2/layout/IconVerticalSolidList"/>
    <dgm:cxn modelId="{3CCDB425-7DFF-4DBD-BEEC-D180807F61E3}" type="presParOf" srcId="{6FAD08F9-9520-4DDD-9684-DE931556E837}" destId="{3056C766-BFA7-41BC-AA83-51523A564F13}" srcOrd="2" destOrd="0" presId="urn:microsoft.com/office/officeart/2018/2/layout/IconVerticalSolidList"/>
    <dgm:cxn modelId="{B19B5793-4F88-4D9A-9698-CD9DCE94BA20}" type="presParOf" srcId="{6FAD08F9-9520-4DDD-9684-DE931556E837}" destId="{8728BC53-1C0A-488C-B266-14064483AEC8}" srcOrd="3" destOrd="0" presId="urn:microsoft.com/office/officeart/2018/2/layout/IconVerticalSolidList"/>
    <dgm:cxn modelId="{A2FFF403-9A33-43D3-919A-FEBAE9EBF0AC}" type="presParOf" srcId="{D1E0CA96-3393-42CB-857D-C63DE466C485}" destId="{7B641EF2-8999-4CF2-BD4B-CA31F0E8F6AF}" srcOrd="3" destOrd="0" presId="urn:microsoft.com/office/officeart/2018/2/layout/IconVerticalSolidList"/>
    <dgm:cxn modelId="{E5055A3E-1457-4D04-8A9F-2B362AB5B903}" type="presParOf" srcId="{D1E0CA96-3393-42CB-857D-C63DE466C485}" destId="{F26B3292-E4A6-4B10-AA6E-EECC73952668}" srcOrd="4" destOrd="0" presId="urn:microsoft.com/office/officeart/2018/2/layout/IconVerticalSolidList"/>
    <dgm:cxn modelId="{83CDFDFC-99A8-448F-A890-12BFAFC7BC8E}" type="presParOf" srcId="{F26B3292-E4A6-4B10-AA6E-EECC73952668}" destId="{FC66E7D1-916A-4B8A-B0C2-65C80058C842}" srcOrd="0" destOrd="0" presId="urn:microsoft.com/office/officeart/2018/2/layout/IconVerticalSolidList"/>
    <dgm:cxn modelId="{480E7E28-C1B6-4EA5-94D5-35965B191CBF}" type="presParOf" srcId="{F26B3292-E4A6-4B10-AA6E-EECC73952668}" destId="{D4DEC63F-705F-458C-AB68-B943B3F96EFD}" srcOrd="1" destOrd="0" presId="urn:microsoft.com/office/officeart/2018/2/layout/IconVerticalSolidList"/>
    <dgm:cxn modelId="{6928A320-5EC3-4A84-ABE1-9BF5F63456EC}" type="presParOf" srcId="{F26B3292-E4A6-4B10-AA6E-EECC73952668}" destId="{07A22F1C-D6BB-4C2D-AE0D-8182BE37283E}" srcOrd="2" destOrd="0" presId="urn:microsoft.com/office/officeart/2018/2/layout/IconVerticalSolidList"/>
    <dgm:cxn modelId="{AFA77E97-3344-440C-B611-67E90E1C3F64}" type="presParOf" srcId="{F26B3292-E4A6-4B10-AA6E-EECC73952668}" destId="{3CABF4FE-CF80-4CDE-827E-EAB71F1EAB20}" srcOrd="3" destOrd="0" presId="urn:microsoft.com/office/officeart/2018/2/layout/IconVerticalSolidList"/>
    <dgm:cxn modelId="{5424A7C8-DE57-4A49-B111-4AE32D2A859D}" type="presParOf" srcId="{D1E0CA96-3393-42CB-857D-C63DE466C485}" destId="{87C41698-7185-4376-BD8B-53EB80D8C49E}" srcOrd="5" destOrd="0" presId="urn:microsoft.com/office/officeart/2018/2/layout/IconVerticalSolidList"/>
    <dgm:cxn modelId="{901A2BA2-676D-4637-9D65-68218BB30222}" type="presParOf" srcId="{D1E0CA96-3393-42CB-857D-C63DE466C485}" destId="{421F2D3C-2B31-4CF5-BE34-3844BF5C5893}" srcOrd="6" destOrd="0" presId="urn:microsoft.com/office/officeart/2018/2/layout/IconVerticalSolidList"/>
    <dgm:cxn modelId="{0639B9A6-CEE6-4426-B94F-31958B616C3B}" type="presParOf" srcId="{421F2D3C-2B31-4CF5-BE34-3844BF5C5893}" destId="{2112FC09-2949-43C9-88E8-AD063568BB58}" srcOrd="0" destOrd="0" presId="urn:microsoft.com/office/officeart/2018/2/layout/IconVerticalSolidList"/>
    <dgm:cxn modelId="{16AA6C41-0E4A-400A-820A-C9F7014DDBC4}" type="presParOf" srcId="{421F2D3C-2B31-4CF5-BE34-3844BF5C5893}" destId="{61FF1842-EB85-4B5B-8AC4-2940035A1661}" srcOrd="1" destOrd="0" presId="urn:microsoft.com/office/officeart/2018/2/layout/IconVerticalSolidList"/>
    <dgm:cxn modelId="{C14C1E86-CB67-4268-BD43-0FE033804D98}" type="presParOf" srcId="{421F2D3C-2B31-4CF5-BE34-3844BF5C5893}" destId="{013B8A88-B10D-48D3-940B-2E170E25DC00}" srcOrd="2" destOrd="0" presId="urn:microsoft.com/office/officeart/2018/2/layout/IconVerticalSolidList"/>
    <dgm:cxn modelId="{334CE7FF-6B1A-46F0-BB01-88F82DAD2CCA}" type="presParOf" srcId="{421F2D3C-2B31-4CF5-BE34-3844BF5C5893}" destId="{BE437454-B8EF-48EB-B79D-5DE4204A4E6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E6ED1-B37F-4DEF-A5B1-AB903DA31B96}">
      <dsp:nvSpPr>
        <dsp:cNvPr id="0" name=""/>
        <dsp:cNvSpPr/>
      </dsp:nvSpPr>
      <dsp:spPr>
        <a:xfrm>
          <a:off x="0" y="1953"/>
          <a:ext cx="7886700" cy="9902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CB5B9E-6236-4249-890A-0FD837D288E6}">
      <dsp:nvSpPr>
        <dsp:cNvPr id="0" name=""/>
        <dsp:cNvSpPr/>
      </dsp:nvSpPr>
      <dsp:spPr>
        <a:xfrm>
          <a:off x="299562" y="224768"/>
          <a:ext cx="544658" cy="54465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13EEC7-1DE4-45D1-A349-2E530B3E2942}">
      <dsp:nvSpPr>
        <dsp:cNvPr id="0" name=""/>
        <dsp:cNvSpPr/>
      </dsp:nvSpPr>
      <dsp:spPr>
        <a:xfrm>
          <a:off x="1143783" y="1953"/>
          <a:ext cx="6742916" cy="990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06" tIns="104806" rIns="104806" bIns="104806" numCol="1" spcCol="1270" anchor="ctr" anchorCtr="0">
          <a:noAutofit/>
        </a:bodyPr>
        <a:lstStyle/>
        <a:p>
          <a:pPr marL="0" lvl="0" indent="0" algn="l" defTabSz="977900">
            <a:lnSpc>
              <a:spcPct val="100000"/>
            </a:lnSpc>
            <a:spcBef>
              <a:spcPct val="0"/>
            </a:spcBef>
            <a:spcAft>
              <a:spcPct val="35000"/>
            </a:spcAft>
            <a:buNone/>
          </a:pPr>
          <a:r>
            <a:rPr lang="en-US" sz="2200" kern="1200"/>
            <a:t>Developed a scalable pipeline for fraud detection.</a:t>
          </a:r>
        </a:p>
      </dsp:txBody>
      <dsp:txXfrm>
        <a:off x="1143783" y="1953"/>
        <a:ext cx="6742916" cy="990288"/>
      </dsp:txXfrm>
    </dsp:sp>
    <dsp:sp modelId="{91FF5F41-15FD-4EE3-8948-F8F53DF32A3A}">
      <dsp:nvSpPr>
        <dsp:cNvPr id="0" name=""/>
        <dsp:cNvSpPr/>
      </dsp:nvSpPr>
      <dsp:spPr>
        <a:xfrm>
          <a:off x="0" y="1239815"/>
          <a:ext cx="7886700" cy="9902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98D8EB-7089-4770-A4B1-8A7F5E170444}">
      <dsp:nvSpPr>
        <dsp:cNvPr id="0" name=""/>
        <dsp:cNvSpPr/>
      </dsp:nvSpPr>
      <dsp:spPr>
        <a:xfrm>
          <a:off x="299562" y="1462630"/>
          <a:ext cx="544658" cy="54465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28BC53-1C0A-488C-B266-14064483AEC8}">
      <dsp:nvSpPr>
        <dsp:cNvPr id="0" name=""/>
        <dsp:cNvSpPr/>
      </dsp:nvSpPr>
      <dsp:spPr>
        <a:xfrm>
          <a:off x="1143783" y="1239815"/>
          <a:ext cx="6742916" cy="990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06" tIns="104806" rIns="104806" bIns="104806" numCol="1" spcCol="1270" anchor="ctr" anchorCtr="0">
          <a:noAutofit/>
        </a:bodyPr>
        <a:lstStyle/>
        <a:p>
          <a:pPr marL="0" lvl="0" indent="0" algn="l" defTabSz="977900">
            <a:lnSpc>
              <a:spcPct val="100000"/>
            </a:lnSpc>
            <a:spcBef>
              <a:spcPct val="0"/>
            </a:spcBef>
            <a:spcAft>
              <a:spcPct val="35000"/>
            </a:spcAft>
            <a:buNone/>
          </a:pPr>
          <a:r>
            <a:rPr lang="en-US" sz="2200" kern="1200"/>
            <a:t>Addressed foundational challenges in class imbalance.</a:t>
          </a:r>
        </a:p>
      </dsp:txBody>
      <dsp:txXfrm>
        <a:off x="1143783" y="1239815"/>
        <a:ext cx="6742916" cy="990288"/>
      </dsp:txXfrm>
    </dsp:sp>
    <dsp:sp modelId="{FC66E7D1-916A-4B8A-B0C2-65C80058C842}">
      <dsp:nvSpPr>
        <dsp:cNvPr id="0" name=""/>
        <dsp:cNvSpPr/>
      </dsp:nvSpPr>
      <dsp:spPr>
        <a:xfrm>
          <a:off x="0" y="2477676"/>
          <a:ext cx="7886700" cy="9902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DEC63F-705F-458C-AB68-B943B3F96EFD}">
      <dsp:nvSpPr>
        <dsp:cNvPr id="0" name=""/>
        <dsp:cNvSpPr/>
      </dsp:nvSpPr>
      <dsp:spPr>
        <a:xfrm>
          <a:off x="299562" y="2700491"/>
          <a:ext cx="544658" cy="54465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ABF4FE-CF80-4CDE-827E-EAB71F1EAB20}">
      <dsp:nvSpPr>
        <dsp:cNvPr id="0" name=""/>
        <dsp:cNvSpPr/>
      </dsp:nvSpPr>
      <dsp:spPr>
        <a:xfrm>
          <a:off x="1143783" y="2477676"/>
          <a:ext cx="6742916" cy="990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06" tIns="104806" rIns="104806" bIns="104806" numCol="1" spcCol="1270" anchor="ctr" anchorCtr="0">
          <a:noAutofit/>
        </a:bodyPr>
        <a:lstStyle/>
        <a:p>
          <a:pPr marL="0" lvl="0" indent="0" algn="l" defTabSz="977900">
            <a:lnSpc>
              <a:spcPct val="100000"/>
            </a:lnSpc>
            <a:spcBef>
              <a:spcPct val="0"/>
            </a:spcBef>
            <a:spcAft>
              <a:spcPct val="35000"/>
            </a:spcAft>
            <a:buNone/>
          </a:pPr>
          <a:r>
            <a:rPr lang="en-US" sz="2200" kern="1200"/>
            <a:t>Provided actionable insights for Phase II improvements.</a:t>
          </a:r>
        </a:p>
      </dsp:txBody>
      <dsp:txXfrm>
        <a:off x="1143783" y="2477676"/>
        <a:ext cx="6742916" cy="990288"/>
      </dsp:txXfrm>
    </dsp:sp>
    <dsp:sp modelId="{2112FC09-2949-43C9-88E8-AD063568BB58}">
      <dsp:nvSpPr>
        <dsp:cNvPr id="0" name=""/>
        <dsp:cNvSpPr/>
      </dsp:nvSpPr>
      <dsp:spPr>
        <a:xfrm>
          <a:off x="0" y="3715537"/>
          <a:ext cx="7886700" cy="9902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FF1842-EB85-4B5B-8AC4-2940035A1661}">
      <dsp:nvSpPr>
        <dsp:cNvPr id="0" name=""/>
        <dsp:cNvSpPr/>
      </dsp:nvSpPr>
      <dsp:spPr>
        <a:xfrm>
          <a:off x="299562" y="3938352"/>
          <a:ext cx="544658" cy="54465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437454-B8EF-48EB-B79D-5DE4204A4E69}">
      <dsp:nvSpPr>
        <dsp:cNvPr id="0" name=""/>
        <dsp:cNvSpPr/>
      </dsp:nvSpPr>
      <dsp:spPr>
        <a:xfrm>
          <a:off x="1143783" y="3715537"/>
          <a:ext cx="6742916" cy="9902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806" tIns="104806" rIns="104806" bIns="104806" numCol="1" spcCol="1270" anchor="ctr" anchorCtr="0">
          <a:noAutofit/>
        </a:bodyPr>
        <a:lstStyle/>
        <a:p>
          <a:pPr marL="0" lvl="0" indent="0" algn="l" defTabSz="977900">
            <a:lnSpc>
              <a:spcPct val="100000"/>
            </a:lnSpc>
            <a:spcBef>
              <a:spcPct val="0"/>
            </a:spcBef>
            <a:spcAft>
              <a:spcPct val="35000"/>
            </a:spcAft>
            <a:buNone/>
          </a:pPr>
          <a:r>
            <a:rPr lang="en-US" sz="2200" kern="1200"/>
            <a:t>Established robust evaluation methods for fraud detection.</a:t>
          </a:r>
        </a:p>
      </dsp:txBody>
      <dsp:txXfrm>
        <a:off x="1143783" y="3715537"/>
        <a:ext cx="6742916" cy="99028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9144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bject 2"/>
          <p:cNvSpPr txBox="1"/>
          <p:nvPr/>
        </p:nvSpPr>
        <p:spPr>
          <a:xfrm>
            <a:off x="613490" y="4656196"/>
            <a:ext cx="7932411" cy="822385"/>
          </a:xfrm>
          <a:prstGeom prst="rect">
            <a:avLst/>
          </a:prstGeom>
        </p:spPr>
        <p:txBody>
          <a:bodyPr vert="horz" lIns="91440" tIns="45720" rIns="91440" bIns="45720" rtlCol="0" anchor="b">
            <a:normAutofit/>
          </a:bodyPr>
          <a:lstStyle/>
          <a:p>
            <a:pPr marL="6029" marR="2538" indent="-317" algn="ctr" defTabSz="914400">
              <a:lnSpc>
                <a:spcPct val="90000"/>
              </a:lnSpc>
              <a:spcBef>
                <a:spcPct val="0"/>
              </a:spcBef>
              <a:spcAft>
                <a:spcPts val="600"/>
              </a:spcAft>
            </a:pPr>
            <a:r>
              <a:rPr lang="en-US" sz="3600" b="1" dirty="0">
                <a:effectLst>
                  <a:outerShdw blurRad="38100" dist="38100" dir="2700000" algn="tl">
                    <a:srgbClr val="000000">
                      <a:alpha val="43137"/>
                    </a:srgbClr>
                  </a:outerShdw>
                </a:effectLst>
                <a:latin typeface="+mj-lt"/>
                <a:ea typeface="+mj-ea"/>
                <a:cs typeface="+mj-cs"/>
              </a:rPr>
              <a:t>A Tool To Detect Credit Card Fraud</a:t>
            </a:r>
          </a:p>
        </p:txBody>
      </p:sp>
      <p:sp>
        <p:nvSpPr>
          <p:cNvPr id="4" name="TextBox 3">
            <a:extLst>
              <a:ext uri="{FF2B5EF4-FFF2-40B4-BE49-F238E27FC236}">
                <a16:creationId xmlns:a16="http://schemas.microsoft.com/office/drawing/2014/main" id="{19AF5C2C-CE3F-4A5A-2E8F-5879A2171D21}"/>
              </a:ext>
            </a:extLst>
          </p:cNvPr>
          <p:cNvSpPr txBox="1"/>
          <p:nvPr/>
        </p:nvSpPr>
        <p:spPr>
          <a:xfrm>
            <a:off x="2702944" y="5734921"/>
            <a:ext cx="3220528" cy="982181"/>
          </a:xfrm>
          <a:prstGeom prst="rect">
            <a:avLst/>
          </a:prstGeom>
        </p:spPr>
        <p:txBody>
          <a:bodyPr vert="horz" lIns="91440" tIns="45720" rIns="91440" bIns="45720" rtlCol="0" anchor="t">
            <a:normAutofit fontScale="92500"/>
          </a:bodyPr>
          <a:lstStyle/>
          <a:p>
            <a:pPr algn="ctr"/>
            <a:r>
              <a:rPr lang="en-US" sz="1400" dirty="0"/>
              <a:t>Sourab Seriker - 1002245769</a:t>
            </a:r>
          </a:p>
          <a:p>
            <a:pPr algn="ctr"/>
            <a:r>
              <a:rPr lang="en-US" sz="1400" dirty="0"/>
              <a:t>Sushanth Dayala – 1002241874</a:t>
            </a:r>
          </a:p>
          <a:p>
            <a:pPr algn="ctr"/>
            <a:r>
              <a:rPr lang="en-US" sz="1400" dirty="0"/>
              <a:t>Samved Thimmasarthy – 1002246648</a:t>
            </a:r>
          </a:p>
          <a:p>
            <a:pPr algn="ctr"/>
            <a:r>
              <a:rPr lang="en-US" sz="1400" dirty="0"/>
              <a:t>Roshan Nawaz Mohammed – 1002245127</a:t>
            </a:r>
          </a:p>
          <a:p>
            <a:pPr marR="5080" algn="ctr" defTabSz="914400">
              <a:lnSpc>
                <a:spcPct val="90000"/>
              </a:lnSpc>
              <a:spcBef>
                <a:spcPts val="1000"/>
              </a:spcBef>
            </a:pPr>
            <a:endParaRPr lang="en-US" sz="1400" b="1" dirty="0">
              <a:solidFill>
                <a:schemeClr val="tx1">
                  <a:lumMod val="85000"/>
                  <a:lumOff val="15000"/>
                </a:schemeClr>
              </a:solidFill>
            </a:endParaRPr>
          </a:p>
        </p:txBody>
      </p:sp>
      <p:pic>
        <p:nvPicPr>
          <p:cNvPr id="7" name="Picture 6" descr="A person in a hoodie surrounded by various electronic devices&#10;&#10;Description automatically generated">
            <a:extLst>
              <a:ext uri="{FF2B5EF4-FFF2-40B4-BE49-F238E27FC236}">
                <a16:creationId xmlns:a16="http://schemas.microsoft.com/office/drawing/2014/main" id="{AEE2426E-76A3-5467-3A99-A5FAD20B91A9}"/>
              </a:ext>
            </a:extLst>
          </p:cNvPr>
          <p:cNvPicPr>
            <a:picLocks noChangeAspect="1"/>
          </p:cNvPicPr>
          <p:nvPr/>
        </p:nvPicPr>
        <p:blipFill>
          <a:blip r:embed="rId2"/>
          <a:srcRect l="9046" r="3576" b="-1"/>
          <a:stretch/>
        </p:blipFill>
        <p:spPr>
          <a:xfrm>
            <a:off x="20" y="10"/>
            <a:ext cx="9143979" cy="5267854"/>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7507" y="428053"/>
            <a:ext cx="7886700" cy="887603"/>
          </a:xfrm>
          <a:solidFill>
            <a:schemeClr val="tx1"/>
          </a:solidFill>
        </p:spPr>
        <p:txBody>
          <a:bodyPr>
            <a:normAutofit/>
          </a:bodyPr>
          <a:lstStyle/>
          <a:p>
            <a:r>
              <a:rPr lang="en-US" sz="4700" dirty="0">
                <a:solidFill>
                  <a:schemeClr val="bg1"/>
                </a:solidFill>
              </a:rPr>
              <a:t>Introduction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797214"/>
          </a:xfrm>
        </p:spPr>
        <p:txBody>
          <a:bodyPr>
            <a:noAutofit/>
          </a:bodyPr>
          <a:lstStyle/>
          <a:p>
            <a:r>
              <a:rPr lang="en-US" sz="2400" dirty="0"/>
              <a:t>Phase I focused on designing a fraud detection tool.</a:t>
            </a:r>
          </a:p>
          <a:p>
            <a:r>
              <a:rPr lang="en-US" sz="2400" dirty="0"/>
              <a:t>Aimed to address real-world challenges faced by financial institutions.</a:t>
            </a:r>
          </a:p>
          <a:p>
            <a:r>
              <a:rPr lang="en-US" sz="2400" dirty="0"/>
              <a:t>Targeted class imbalance, real-time detection, and false positives.</a:t>
            </a:r>
          </a:p>
          <a:p>
            <a:r>
              <a:rPr lang="en-US" sz="2400" dirty="0"/>
              <a:t>Leveraged advanced machine learning techniques.</a:t>
            </a:r>
          </a:p>
          <a:p>
            <a:r>
              <a:rPr lang="en-US" sz="2400" dirty="0"/>
              <a:t>Used big data processing tools like PySpark.</a:t>
            </a:r>
          </a:p>
          <a:p>
            <a:r>
              <a:rPr lang="en-US" sz="2400" dirty="0"/>
              <a:t>Aimed to create a user-friendly interface for analysts.</a:t>
            </a:r>
          </a:p>
          <a:p>
            <a:r>
              <a:rPr lang="en-US" sz="2400" dirty="0"/>
              <a:t>Built a scalable solution for high transaction volumes.</a:t>
            </a:r>
          </a:p>
          <a:p>
            <a:r>
              <a:rPr lang="en-US" sz="2400" dirty="0"/>
              <a:t>Focused on regulatory compliance and ethical considerations.</a:t>
            </a:r>
          </a:p>
          <a:p>
            <a:pPr marL="0" indent="0">
              <a:buNone/>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29369" y="409352"/>
            <a:ext cx="8263890" cy="900708"/>
          </a:xfrm>
          <a:solidFill>
            <a:schemeClr val="tx1"/>
          </a:solidFill>
        </p:spPr>
        <p:txBody>
          <a:bodyPr anchor="b">
            <a:normAutofit/>
          </a:bodyPr>
          <a:lstStyle/>
          <a:p>
            <a:r>
              <a:rPr lang="en-US" sz="4700" dirty="0">
                <a:solidFill>
                  <a:schemeClr val="bg1"/>
                </a:solidFill>
              </a:rPr>
              <a:t>Problem Statement</a:t>
            </a:r>
          </a:p>
        </p:txBody>
      </p:sp>
      <p:sp>
        <p:nvSpPr>
          <p:cNvPr id="1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29369" y="2071316"/>
            <a:ext cx="5035164" cy="4671434"/>
          </a:xfrm>
        </p:spPr>
        <p:txBody>
          <a:bodyPr anchor="t">
            <a:noAutofit/>
          </a:bodyPr>
          <a:lstStyle/>
          <a:p>
            <a:pPr>
              <a:lnSpc>
                <a:spcPct val="90000"/>
              </a:lnSpc>
            </a:pPr>
            <a:r>
              <a:rPr lang="en-US" sz="2000" dirty="0"/>
              <a:t>Credit card fraud is a growing concern in financial systems.</a:t>
            </a:r>
          </a:p>
          <a:p>
            <a:pPr>
              <a:lnSpc>
                <a:spcPct val="90000"/>
              </a:lnSpc>
            </a:pPr>
            <a:r>
              <a:rPr lang="en-US" sz="2000" dirty="0"/>
              <a:t>Challenges include:</a:t>
            </a:r>
          </a:p>
          <a:p>
            <a:pPr marL="0" indent="0">
              <a:lnSpc>
                <a:spcPct val="90000"/>
              </a:lnSpc>
              <a:buNone/>
            </a:pPr>
            <a:r>
              <a:rPr lang="en-US" sz="2000" dirty="0"/>
              <a:t>      - Low fraud occurrence (class</a:t>
            </a:r>
          </a:p>
          <a:p>
            <a:pPr marL="0" indent="0">
              <a:lnSpc>
                <a:spcPct val="90000"/>
              </a:lnSpc>
              <a:buNone/>
            </a:pPr>
            <a:r>
              <a:rPr lang="en-US" sz="2000" dirty="0"/>
              <a:t>         imbalance).</a:t>
            </a:r>
          </a:p>
          <a:p>
            <a:pPr marL="0" indent="0">
              <a:lnSpc>
                <a:spcPct val="90000"/>
              </a:lnSpc>
              <a:buNone/>
            </a:pPr>
            <a:r>
              <a:rPr lang="en-US" sz="2000" dirty="0"/>
              <a:t>      - Large-scale transactional data.</a:t>
            </a:r>
          </a:p>
          <a:p>
            <a:pPr marL="0" indent="0">
              <a:lnSpc>
                <a:spcPct val="90000"/>
              </a:lnSpc>
              <a:buNone/>
            </a:pPr>
            <a:r>
              <a:rPr lang="en-US" sz="2000" dirty="0"/>
              <a:t>      - Need for minimal false</a:t>
            </a:r>
          </a:p>
          <a:p>
            <a:pPr marL="0" indent="0">
              <a:lnSpc>
                <a:spcPct val="90000"/>
              </a:lnSpc>
              <a:buNone/>
            </a:pPr>
            <a:r>
              <a:rPr lang="en-US" sz="2000" dirty="0"/>
              <a:t>        positives  to reduce disruptions.</a:t>
            </a:r>
          </a:p>
          <a:p>
            <a:pPr marL="0" indent="0">
              <a:lnSpc>
                <a:spcPct val="90000"/>
              </a:lnSpc>
              <a:buNone/>
            </a:pPr>
            <a:r>
              <a:rPr lang="en-US" sz="2000" dirty="0"/>
              <a:t>      - Timely detection for proactive</a:t>
            </a:r>
          </a:p>
          <a:p>
            <a:pPr marL="0" indent="0">
              <a:lnSpc>
                <a:spcPct val="90000"/>
              </a:lnSpc>
              <a:buNone/>
            </a:pPr>
            <a:r>
              <a:rPr lang="en-US" sz="2000" dirty="0"/>
              <a:t>         measures.</a:t>
            </a:r>
          </a:p>
          <a:p>
            <a:pPr>
              <a:lnSpc>
                <a:spcPct val="90000"/>
              </a:lnSpc>
            </a:pPr>
            <a:r>
              <a:rPr lang="en-US" sz="2000" dirty="0"/>
              <a:t>Existing solutions often rely on outdated rule-based methods.</a:t>
            </a:r>
          </a:p>
          <a:p>
            <a:pPr>
              <a:lnSpc>
                <a:spcPct val="90000"/>
              </a:lnSpc>
            </a:pPr>
            <a:r>
              <a:rPr lang="en-US" sz="2000" dirty="0"/>
              <a:t>Financial losses and reputational risks are significant.</a:t>
            </a:r>
          </a:p>
          <a:p>
            <a:pPr>
              <a:lnSpc>
                <a:spcPct val="90000"/>
              </a:lnSpc>
            </a:pPr>
            <a:endParaRPr lang="en-US" sz="2000" dirty="0"/>
          </a:p>
        </p:txBody>
      </p:sp>
      <p:pic>
        <p:nvPicPr>
          <p:cNvPr id="4" name="object 2" descr="A person holding a wallet&#10;&#10;Description automatically generated">
            <a:extLst>
              <a:ext uri="{FF2B5EF4-FFF2-40B4-BE49-F238E27FC236}">
                <a16:creationId xmlns:a16="http://schemas.microsoft.com/office/drawing/2014/main" id="{5D44134A-B877-9B74-3E1F-03354DBF14D4}"/>
              </a:ext>
            </a:extLst>
          </p:cNvPr>
          <p:cNvPicPr/>
          <p:nvPr/>
        </p:nvPicPr>
        <p:blipFill>
          <a:blip r:embed="rId2" cstate="print"/>
          <a:srcRect l="1079" r="7595" b="-12"/>
          <a:stretch/>
        </p:blipFill>
        <p:spPr>
          <a:xfrm>
            <a:off x="5756743" y="2093976"/>
            <a:ext cx="2955798" cy="40965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48651" y="369819"/>
            <a:ext cx="8263890" cy="807853"/>
          </a:xfrm>
          <a:solidFill>
            <a:schemeClr val="tx1"/>
          </a:solidFill>
        </p:spPr>
        <p:txBody>
          <a:bodyPr anchor="b">
            <a:normAutofit/>
          </a:bodyPr>
          <a:lstStyle/>
          <a:p>
            <a:r>
              <a:rPr lang="en-US" sz="4700" dirty="0">
                <a:solidFill>
                  <a:schemeClr val="bg1"/>
                </a:solidFill>
              </a:rPr>
              <a:t>Technical Blueprint</a:t>
            </a:r>
          </a:p>
        </p:txBody>
      </p:sp>
      <p:sp>
        <p:nvSpPr>
          <p:cNvPr id="3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9369" y="1681544"/>
            <a:ext cx="8229600" cy="18288"/>
          </a:xfrm>
          <a:custGeom>
            <a:avLst/>
            <a:gdLst>
              <a:gd name="connsiteX0" fmla="*/ 0 w 8229600"/>
              <a:gd name="connsiteY0" fmla="*/ 0 h 18288"/>
              <a:gd name="connsiteX1" fmla="*/ 521208 w 8229600"/>
              <a:gd name="connsiteY1" fmla="*/ 0 h 18288"/>
              <a:gd name="connsiteX2" fmla="*/ 1371600 w 8229600"/>
              <a:gd name="connsiteY2" fmla="*/ 0 h 18288"/>
              <a:gd name="connsiteX3" fmla="*/ 2221992 w 8229600"/>
              <a:gd name="connsiteY3" fmla="*/ 0 h 18288"/>
              <a:gd name="connsiteX4" fmla="*/ 3072384 w 8229600"/>
              <a:gd name="connsiteY4" fmla="*/ 0 h 18288"/>
              <a:gd name="connsiteX5" fmla="*/ 3511296 w 8229600"/>
              <a:gd name="connsiteY5" fmla="*/ 0 h 18288"/>
              <a:gd name="connsiteX6" fmla="*/ 4114800 w 8229600"/>
              <a:gd name="connsiteY6" fmla="*/ 0 h 18288"/>
              <a:gd name="connsiteX7" fmla="*/ 4553712 w 8229600"/>
              <a:gd name="connsiteY7" fmla="*/ 0 h 18288"/>
              <a:gd name="connsiteX8" fmla="*/ 5239512 w 8229600"/>
              <a:gd name="connsiteY8" fmla="*/ 0 h 18288"/>
              <a:gd name="connsiteX9" fmla="*/ 5843016 w 8229600"/>
              <a:gd name="connsiteY9" fmla="*/ 0 h 18288"/>
              <a:gd name="connsiteX10" fmla="*/ 6611112 w 8229600"/>
              <a:gd name="connsiteY10" fmla="*/ 0 h 18288"/>
              <a:gd name="connsiteX11" fmla="*/ 7461504 w 8229600"/>
              <a:gd name="connsiteY11" fmla="*/ 0 h 18288"/>
              <a:gd name="connsiteX12" fmla="*/ 8229600 w 8229600"/>
              <a:gd name="connsiteY12" fmla="*/ 0 h 18288"/>
              <a:gd name="connsiteX13" fmla="*/ 8229600 w 8229600"/>
              <a:gd name="connsiteY13" fmla="*/ 18288 h 18288"/>
              <a:gd name="connsiteX14" fmla="*/ 7461504 w 8229600"/>
              <a:gd name="connsiteY14" fmla="*/ 18288 h 18288"/>
              <a:gd name="connsiteX15" fmla="*/ 6940296 w 8229600"/>
              <a:gd name="connsiteY15" fmla="*/ 18288 h 18288"/>
              <a:gd name="connsiteX16" fmla="*/ 6419088 w 8229600"/>
              <a:gd name="connsiteY16" fmla="*/ 18288 h 18288"/>
              <a:gd name="connsiteX17" fmla="*/ 5650992 w 8229600"/>
              <a:gd name="connsiteY17" fmla="*/ 18288 h 18288"/>
              <a:gd name="connsiteX18" fmla="*/ 5129784 w 8229600"/>
              <a:gd name="connsiteY18" fmla="*/ 18288 h 18288"/>
              <a:gd name="connsiteX19" fmla="*/ 4690872 w 8229600"/>
              <a:gd name="connsiteY19" fmla="*/ 18288 h 18288"/>
              <a:gd name="connsiteX20" fmla="*/ 4087368 w 8229600"/>
              <a:gd name="connsiteY20" fmla="*/ 18288 h 18288"/>
              <a:gd name="connsiteX21" fmla="*/ 3401568 w 8229600"/>
              <a:gd name="connsiteY21" fmla="*/ 18288 h 18288"/>
              <a:gd name="connsiteX22" fmla="*/ 2798064 w 8229600"/>
              <a:gd name="connsiteY22" fmla="*/ 18288 h 18288"/>
              <a:gd name="connsiteX23" fmla="*/ 2276856 w 8229600"/>
              <a:gd name="connsiteY23" fmla="*/ 18288 h 18288"/>
              <a:gd name="connsiteX24" fmla="*/ 1426464 w 8229600"/>
              <a:gd name="connsiteY24" fmla="*/ 18288 h 18288"/>
              <a:gd name="connsiteX25" fmla="*/ 740664 w 8229600"/>
              <a:gd name="connsiteY25" fmla="*/ 18288 h 18288"/>
              <a:gd name="connsiteX26" fmla="*/ 0 w 8229600"/>
              <a:gd name="connsiteY26" fmla="*/ 18288 h 18288"/>
              <a:gd name="connsiteX27" fmla="*/ 0 w 8229600"/>
              <a:gd name="connsiteY2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229600" h="18288" fill="none" extrusionOk="0">
                <a:moveTo>
                  <a:pt x="0" y="0"/>
                </a:moveTo>
                <a:cubicBezTo>
                  <a:pt x="227594" y="-4267"/>
                  <a:pt x="329693" y="13251"/>
                  <a:pt x="521208" y="0"/>
                </a:cubicBezTo>
                <a:cubicBezTo>
                  <a:pt x="712723" y="-13251"/>
                  <a:pt x="1137373" y="-13618"/>
                  <a:pt x="1371600" y="0"/>
                </a:cubicBezTo>
                <a:cubicBezTo>
                  <a:pt x="1605827" y="13618"/>
                  <a:pt x="1975382" y="-27374"/>
                  <a:pt x="2221992" y="0"/>
                </a:cubicBezTo>
                <a:cubicBezTo>
                  <a:pt x="2468602" y="27374"/>
                  <a:pt x="2863316" y="-20517"/>
                  <a:pt x="3072384" y="0"/>
                </a:cubicBezTo>
                <a:cubicBezTo>
                  <a:pt x="3281452" y="20517"/>
                  <a:pt x="3331438" y="10793"/>
                  <a:pt x="3511296" y="0"/>
                </a:cubicBezTo>
                <a:cubicBezTo>
                  <a:pt x="3691154" y="-10793"/>
                  <a:pt x="3906405" y="-29737"/>
                  <a:pt x="4114800" y="0"/>
                </a:cubicBezTo>
                <a:cubicBezTo>
                  <a:pt x="4323195" y="29737"/>
                  <a:pt x="4428852" y="-2234"/>
                  <a:pt x="4553712" y="0"/>
                </a:cubicBezTo>
                <a:cubicBezTo>
                  <a:pt x="4678572" y="2234"/>
                  <a:pt x="5065629" y="29368"/>
                  <a:pt x="5239512" y="0"/>
                </a:cubicBezTo>
                <a:cubicBezTo>
                  <a:pt x="5413395" y="-29368"/>
                  <a:pt x="5703888" y="11839"/>
                  <a:pt x="5843016" y="0"/>
                </a:cubicBezTo>
                <a:cubicBezTo>
                  <a:pt x="5982144" y="-11839"/>
                  <a:pt x="6260765" y="24719"/>
                  <a:pt x="6611112" y="0"/>
                </a:cubicBezTo>
                <a:cubicBezTo>
                  <a:pt x="6961459" y="-24719"/>
                  <a:pt x="7228293" y="32959"/>
                  <a:pt x="7461504" y="0"/>
                </a:cubicBezTo>
                <a:cubicBezTo>
                  <a:pt x="7694715" y="-32959"/>
                  <a:pt x="7990029" y="-3422"/>
                  <a:pt x="8229600" y="0"/>
                </a:cubicBezTo>
                <a:cubicBezTo>
                  <a:pt x="8228940" y="5812"/>
                  <a:pt x="8229447" y="9773"/>
                  <a:pt x="8229600" y="18288"/>
                </a:cubicBezTo>
                <a:cubicBezTo>
                  <a:pt x="7940706" y="-9293"/>
                  <a:pt x="7792584" y="-16009"/>
                  <a:pt x="7461504" y="18288"/>
                </a:cubicBezTo>
                <a:cubicBezTo>
                  <a:pt x="7130424" y="52585"/>
                  <a:pt x="7080072" y="43845"/>
                  <a:pt x="6940296" y="18288"/>
                </a:cubicBezTo>
                <a:cubicBezTo>
                  <a:pt x="6800520" y="-7269"/>
                  <a:pt x="6672872" y="26671"/>
                  <a:pt x="6419088" y="18288"/>
                </a:cubicBezTo>
                <a:cubicBezTo>
                  <a:pt x="6165304" y="9905"/>
                  <a:pt x="5869721" y="4987"/>
                  <a:pt x="5650992" y="18288"/>
                </a:cubicBezTo>
                <a:cubicBezTo>
                  <a:pt x="5432263" y="31589"/>
                  <a:pt x="5308310" y="3023"/>
                  <a:pt x="5129784" y="18288"/>
                </a:cubicBezTo>
                <a:cubicBezTo>
                  <a:pt x="4951258" y="33553"/>
                  <a:pt x="4799696" y="15357"/>
                  <a:pt x="4690872" y="18288"/>
                </a:cubicBezTo>
                <a:cubicBezTo>
                  <a:pt x="4582048" y="21219"/>
                  <a:pt x="4311124" y="-7836"/>
                  <a:pt x="4087368" y="18288"/>
                </a:cubicBezTo>
                <a:cubicBezTo>
                  <a:pt x="3863612" y="44412"/>
                  <a:pt x="3730288" y="13374"/>
                  <a:pt x="3401568" y="18288"/>
                </a:cubicBezTo>
                <a:cubicBezTo>
                  <a:pt x="3072848" y="23202"/>
                  <a:pt x="3020684" y="32425"/>
                  <a:pt x="2798064" y="18288"/>
                </a:cubicBezTo>
                <a:cubicBezTo>
                  <a:pt x="2575444" y="4151"/>
                  <a:pt x="2440915" y="-7352"/>
                  <a:pt x="2276856" y="18288"/>
                </a:cubicBezTo>
                <a:cubicBezTo>
                  <a:pt x="2112797" y="43928"/>
                  <a:pt x="1726502" y="-9560"/>
                  <a:pt x="1426464" y="18288"/>
                </a:cubicBezTo>
                <a:cubicBezTo>
                  <a:pt x="1126426" y="46136"/>
                  <a:pt x="992925" y="21016"/>
                  <a:pt x="740664" y="18288"/>
                </a:cubicBezTo>
                <a:cubicBezTo>
                  <a:pt x="488403" y="15560"/>
                  <a:pt x="195650" y="-16061"/>
                  <a:pt x="0" y="18288"/>
                </a:cubicBezTo>
                <a:cubicBezTo>
                  <a:pt x="348" y="9455"/>
                  <a:pt x="654" y="3983"/>
                  <a:pt x="0" y="0"/>
                </a:cubicBezTo>
                <a:close/>
              </a:path>
              <a:path w="8229600" h="18288" stroke="0" extrusionOk="0">
                <a:moveTo>
                  <a:pt x="0" y="0"/>
                </a:moveTo>
                <a:cubicBezTo>
                  <a:pt x="259263" y="-9445"/>
                  <a:pt x="404731" y="4427"/>
                  <a:pt x="521208" y="0"/>
                </a:cubicBezTo>
                <a:cubicBezTo>
                  <a:pt x="637685" y="-4427"/>
                  <a:pt x="839187" y="564"/>
                  <a:pt x="960120" y="0"/>
                </a:cubicBezTo>
                <a:cubicBezTo>
                  <a:pt x="1081053" y="-564"/>
                  <a:pt x="1313469" y="-16481"/>
                  <a:pt x="1481328" y="0"/>
                </a:cubicBezTo>
                <a:cubicBezTo>
                  <a:pt x="1649187" y="16481"/>
                  <a:pt x="1885247" y="26161"/>
                  <a:pt x="2167128" y="0"/>
                </a:cubicBezTo>
                <a:cubicBezTo>
                  <a:pt x="2449009" y="-26161"/>
                  <a:pt x="2761875" y="-22202"/>
                  <a:pt x="2935224" y="0"/>
                </a:cubicBezTo>
                <a:cubicBezTo>
                  <a:pt x="3108573" y="22202"/>
                  <a:pt x="3540687" y="-2863"/>
                  <a:pt x="3785616" y="0"/>
                </a:cubicBezTo>
                <a:cubicBezTo>
                  <a:pt x="4030545" y="2863"/>
                  <a:pt x="4280774" y="-12442"/>
                  <a:pt x="4636008" y="0"/>
                </a:cubicBezTo>
                <a:cubicBezTo>
                  <a:pt x="4991242" y="12442"/>
                  <a:pt x="5025483" y="16914"/>
                  <a:pt x="5239512" y="0"/>
                </a:cubicBezTo>
                <a:cubicBezTo>
                  <a:pt x="5453541" y="-16914"/>
                  <a:pt x="5754008" y="16592"/>
                  <a:pt x="6007608" y="0"/>
                </a:cubicBezTo>
                <a:cubicBezTo>
                  <a:pt x="6261208" y="-16592"/>
                  <a:pt x="6407957" y="-11909"/>
                  <a:pt x="6693408" y="0"/>
                </a:cubicBezTo>
                <a:cubicBezTo>
                  <a:pt x="6978859" y="11909"/>
                  <a:pt x="7015437" y="-20890"/>
                  <a:pt x="7296912" y="0"/>
                </a:cubicBezTo>
                <a:cubicBezTo>
                  <a:pt x="7578387" y="20890"/>
                  <a:pt x="7859622" y="46406"/>
                  <a:pt x="8229600" y="0"/>
                </a:cubicBezTo>
                <a:cubicBezTo>
                  <a:pt x="8230508" y="6337"/>
                  <a:pt x="8228722" y="11778"/>
                  <a:pt x="8229600" y="18288"/>
                </a:cubicBezTo>
                <a:cubicBezTo>
                  <a:pt x="8075287" y="35054"/>
                  <a:pt x="7821366" y="21850"/>
                  <a:pt x="7626096" y="18288"/>
                </a:cubicBezTo>
                <a:cubicBezTo>
                  <a:pt x="7430826" y="14726"/>
                  <a:pt x="7320004" y="-9669"/>
                  <a:pt x="7022592" y="18288"/>
                </a:cubicBezTo>
                <a:cubicBezTo>
                  <a:pt x="6725180" y="46245"/>
                  <a:pt x="6348804" y="-14025"/>
                  <a:pt x="6172200" y="18288"/>
                </a:cubicBezTo>
                <a:cubicBezTo>
                  <a:pt x="5995596" y="50601"/>
                  <a:pt x="5788102" y="22890"/>
                  <a:pt x="5650992" y="18288"/>
                </a:cubicBezTo>
                <a:cubicBezTo>
                  <a:pt x="5513882" y="13686"/>
                  <a:pt x="5198399" y="29121"/>
                  <a:pt x="4882896" y="18288"/>
                </a:cubicBezTo>
                <a:cubicBezTo>
                  <a:pt x="4567393" y="7455"/>
                  <a:pt x="4557008" y="26965"/>
                  <a:pt x="4443984" y="18288"/>
                </a:cubicBezTo>
                <a:cubicBezTo>
                  <a:pt x="4330960" y="9611"/>
                  <a:pt x="4061674" y="28891"/>
                  <a:pt x="3758184" y="18288"/>
                </a:cubicBezTo>
                <a:cubicBezTo>
                  <a:pt x="3454694" y="7685"/>
                  <a:pt x="3380392" y="19119"/>
                  <a:pt x="3236976" y="18288"/>
                </a:cubicBezTo>
                <a:cubicBezTo>
                  <a:pt x="3093560" y="17457"/>
                  <a:pt x="2632116" y="37607"/>
                  <a:pt x="2386584" y="18288"/>
                </a:cubicBezTo>
                <a:cubicBezTo>
                  <a:pt x="2141052" y="-1031"/>
                  <a:pt x="2110884" y="28777"/>
                  <a:pt x="1947672" y="18288"/>
                </a:cubicBezTo>
                <a:cubicBezTo>
                  <a:pt x="1784460" y="7799"/>
                  <a:pt x="1535467" y="461"/>
                  <a:pt x="1261872" y="18288"/>
                </a:cubicBezTo>
                <a:cubicBezTo>
                  <a:pt x="988277" y="36115"/>
                  <a:pt x="1021096" y="10375"/>
                  <a:pt x="822960" y="18288"/>
                </a:cubicBezTo>
                <a:cubicBezTo>
                  <a:pt x="624824" y="26201"/>
                  <a:pt x="298309" y="1283"/>
                  <a:pt x="0" y="18288"/>
                </a:cubicBezTo>
                <a:cubicBezTo>
                  <a:pt x="-633" y="12278"/>
                  <a:pt x="-757" y="5867"/>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29369" y="2071316"/>
            <a:ext cx="5035164" cy="4679256"/>
          </a:xfrm>
        </p:spPr>
        <p:txBody>
          <a:bodyPr anchor="t">
            <a:normAutofit/>
          </a:bodyPr>
          <a:lstStyle/>
          <a:p>
            <a:r>
              <a:rPr lang="en-US" sz="2000" b="1" dirty="0"/>
              <a:t>Data Preprocessing:</a:t>
            </a:r>
          </a:p>
          <a:p>
            <a:pPr marL="0" indent="0">
              <a:buNone/>
            </a:pPr>
            <a:r>
              <a:rPr lang="en-US" sz="2000" dirty="0"/>
              <a:t>     - Scalable loading with PySpark DataFrames.</a:t>
            </a:r>
          </a:p>
          <a:p>
            <a:pPr marL="0" indent="0">
              <a:buNone/>
            </a:pPr>
            <a:r>
              <a:rPr lang="en-US" sz="2000" dirty="0"/>
              <a:t>     - Data cleaning and feature engineering.</a:t>
            </a:r>
          </a:p>
          <a:p>
            <a:pPr marL="0" indent="0">
              <a:buNone/>
            </a:pPr>
            <a:r>
              <a:rPr lang="en-US" sz="2000" dirty="0"/>
              <a:t>     - PCA for dimensionality reduction.</a:t>
            </a:r>
          </a:p>
          <a:p>
            <a:r>
              <a:rPr lang="en-US" sz="2000" b="1" dirty="0"/>
              <a:t>Handling Class Imbalance:</a:t>
            </a:r>
          </a:p>
          <a:p>
            <a:pPr marL="0" indent="0">
              <a:buNone/>
            </a:pPr>
            <a:r>
              <a:rPr lang="en-US" sz="2000" dirty="0"/>
              <a:t>     - SMOTE for creating synthetic fraud </a:t>
            </a:r>
          </a:p>
          <a:p>
            <a:pPr marL="0" indent="0">
              <a:buNone/>
            </a:pPr>
            <a:r>
              <a:rPr lang="en-US" sz="2000" dirty="0"/>
              <a:t>       samples.</a:t>
            </a:r>
          </a:p>
          <a:p>
            <a:r>
              <a:rPr lang="en-US" sz="2000" b="1" dirty="0"/>
              <a:t>ML Models:</a:t>
            </a:r>
          </a:p>
          <a:p>
            <a:pPr marL="0" indent="0">
              <a:buNone/>
            </a:pPr>
            <a:r>
              <a:rPr lang="en-US" sz="2000" dirty="0"/>
              <a:t>     - Linear Regression, Decision Trees, Random  </a:t>
            </a:r>
          </a:p>
          <a:p>
            <a:pPr marL="0" indent="0">
              <a:buNone/>
            </a:pPr>
            <a:r>
              <a:rPr lang="en-US" sz="2000" dirty="0"/>
              <a:t>       Forests.</a:t>
            </a:r>
          </a:p>
          <a:p>
            <a:pPr marL="0" indent="0">
              <a:buNone/>
            </a:pPr>
            <a:r>
              <a:rPr lang="en-US" sz="2000" dirty="0"/>
              <a:t>     - Distributed training using PySpark </a:t>
            </a:r>
            <a:r>
              <a:rPr lang="en-US" sz="2000" dirty="0" err="1"/>
              <a:t>MLlib</a:t>
            </a:r>
            <a:r>
              <a:rPr lang="en-US" sz="2000" dirty="0"/>
              <a:t>.</a:t>
            </a:r>
          </a:p>
          <a:p>
            <a:pPr marL="0" indent="0">
              <a:buNone/>
            </a:pPr>
            <a:endParaRPr lang="en-US" sz="1900" dirty="0"/>
          </a:p>
        </p:txBody>
      </p:sp>
      <p:pic>
        <p:nvPicPr>
          <p:cNvPr id="5" name="Picture 4" descr="A blue and orange infographics&#10;&#10;Description automatically generated">
            <a:extLst>
              <a:ext uri="{FF2B5EF4-FFF2-40B4-BE49-F238E27FC236}">
                <a16:creationId xmlns:a16="http://schemas.microsoft.com/office/drawing/2014/main" id="{1C3C3903-4963-CA39-2B67-118E137CF012}"/>
              </a:ext>
            </a:extLst>
          </p:cNvPr>
          <p:cNvPicPr>
            <a:picLocks noChangeAspect="1"/>
          </p:cNvPicPr>
          <p:nvPr/>
        </p:nvPicPr>
        <p:blipFill>
          <a:blip r:embed="rId2"/>
          <a:srcRect l="9713" r="18131" b="-3"/>
          <a:stretch/>
        </p:blipFill>
        <p:spPr>
          <a:xfrm>
            <a:off x="5756743" y="2093976"/>
            <a:ext cx="2955798" cy="4096512"/>
          </a:xfrm>
          <a:prstGeom prst="rect">
            <a:avLst/>
          </a:prstGeom>
        </p:spPr>
      </p:pic>
      <p:pic>
        <p:nvPicPr>
          <p:cNvPr id="8" name="Picture 7" descr="A blue and orange infographics">
            <a:extLst>
              <a:ext uri="{FF2B5EF4-FFF2-40B4-BE49-F238E27FC236}">
                <a16:creationId xmlns:a16="http://schemas.microsoft.com/office/drawing/2014/main" id="{FE152B86-8A1C-A963-4D80-7A65D9A7C684}"/>
              </a:ext>
            </a:extLst>
          </p:cNvPr>
          <p:cNvPicPr>
            <a:picLocks noChangeAspect="1"/>
          </p:cNvPicPr>
          <p:nvPr/>
        </p:nvPicPr>
        <p:blipFill>
          <a:blip r:embed="rId2"/>
          <a:stretch>
            <a:fillRect/>
          </a:stretch>
        </p:blipFill>
        <p:spPr>
          <a:xfrm>
            <a:off x="5756743" y="2071316"/>
            <a:ext cx="2955798" cy="41191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887603"/>
          </a:xfrm>
          <a:solidFill>
            <a:schemeClr val="tx1"/>
          </a:solidFill>
        </p:spPr>
        <p:txBody>
          <a:bodyPr>
            <a:normAutofit/>
          </a:bodyPr>
          <a:lstStyle/>
          <a:p>
            <a:r>
              <a:rPr lang="en-US" sz="4700" dirty="0">
                <a:solidFill>
                  <a:schemeClr val="bg1"/>
                </a:solidFill>
              </a:rPr>
              <a:t>Dataset Insights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a:bodyPr>
          <a:lstStyle/>
          <a:p>
            <a:r>
              <a:rPr lang="en-US" sz="2400" dirty="0"/>
              <a:t>Transaction dataset analyzed with millions of records. Over 280,000 transactions make it ideal for big data tools like PySpark.</a:t>
            </a:r>
          </a:p>
          <a:p>
            <a:r>
              <a:rPr lang="en-US" sz="2400" dirty="0"/>
              <a:t>Fraudulent transactions were significantly fewer.</a:t>
            </a:r>
          </a:p>
          <a:p>
            <a:r>
              <a:rPr lang="en-US" sz="2400" dirty="0"/>
              <a:t>Features included timestamps, transaction amounts, and locations.</a:t>
            </a:r>
          </a:p>
          <a:p>
            <a:r>
              <a:rPr lang="en-US" sz="2400" dirty="0"/>
              <a:t>Identified strong patterns of fraud clustering in certain conditions.</a:t>
            </a:r>
          </a:p>
          <a:p>
            <a:r>
              <a:rPr lang="en-US" sz="2400" dirty="0"/>
              <a:t>Preprocessed data for consistency and quality.</a:t>
            </a:r>
          </a:p>
          <a:p>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6"/>
            <a:ext cx="7886700" cy="934588"/>
          </a:xfrm>
          <a:solidFill>
            <a:schemeClr val="tx1"/>
          </a:solidFill>
        </p:spPr>
        <p:txBody>
          <a:bodyPr>
            <a:normAutofit/>
          </a:bodyPr>
          <a:lstStyle/>
          <a:p>
            <a:r>
              <a:rPr lang="en-US" sz="4700" dirty="0">
                <a:solidFill>
                  <a:schemeClr val="bg1"/>
                </a:solidFill>
              </a:rPr>
              <a:t>Evaluation Metrics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251960"/>
          </a:xfrm>
        </p:spPr>
        <p:txBody>
          <a:bodyPr>
            <a:normAutofit fontScale="92500" lnSpcReduction="10000"/>
          </a:bodyPr>
          <a:lstStyle/>
          <a:p>
            <a:r>
              <a:rPr lang="en-US" sz="2400" dirty="0"/>
              <a:t>Precision-Recall Curve:</a:t>
            </a:r>
          </a:p>
          <a:p>
            <a:pPr marL="0" indent="0">
              <a:buNone/>
            </a:pPr>
            <a:r>
              <a:rPr lang="en-US" sz="2400" dirty="0"/>
              <a:t>      - Showed the tool's capability in handling </a:t>
            </a:r>
          </a:p>
          <a:p>
            <a:pPr marL="0" indent="0">
              <a:buNone/>
            </a:pPr>
            <a:r>
              <a:rPr lang="en-US" sz="2400" dirty="0"/>
              <a:t>         Imbalanced data.</a:t>
            </a:r>
          </a:p>
          <a:p>
            <a:r>
              <a:rPr lang="en-US" sz="2400" dirty="0"/>
              <a:t>ROC Curve:</a:t>
            </a:r>
          </a:p>
          <a:p>
            <a:pPr marL="0" indent="0">
              <a:buNone/>
            </a:pPr>
            <a:r>
              <a:rPr lang="en-US" sz="2400" dirty="0"/>
              <a:t>      - Evaluated true positive vs. false positive rates.</a:t>
            </a:r>
          </a:p>
          <a:p>
            <a:r>
              <a:rPr lang="en-US" sz="2400" dirty="0"/>
              <a:t>Accuracy and F1-Score:</a:t>
            </a:r>
          </a:p>
          <a:p>
            <a:pPr marL="0" indent="0">
              <a:buNone/>
            </a:pPr>
            <a:r>
              <a:rPr lang="en-US" sz="2400" dirty="0"/>
              <a:t>      - Provided a comprehensive evaluation of  mode </a:t>
            </a:r>
          </a:p>
          <a:p>
            <a:pPr marL="0" indent="0">
              <a:buNone/>
            </a:pPr>
            <a:r>
              <a:rPr lang="en-US" sz="2400" dirty="0"/>
              <a:t>        performance.</a:t>
            </a:r>
          </a:p>
          <a:p>
            <a:pPr marL="0" indent="0">
              <a:buNone/>
            </a:pPr>
            <a:r>
              <a:rPr lang="en-US" sz="2400" dirty="0"/>
              <a:t>      -  Balanced metric for precision and recall.</a:t>
            </a:r>
          </a:p>
          <a:p>
            <a:r>
              <a:rPr lang="en-US" sz="2400" dirty="0"/>
              <a:t>Highlighted the balance between fraud detection and false alarms.</a:t>
            </a:r>
          </a:p>
          <a:p>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502920"/>
            <a:ext cx="2564892" cy="1463040"/>
          </a:xfrm>
          <a:solidFill>
            <a:schemeClr val="tx1"/>
          </a:solidFill>
        </p:spPr>
        <p:txBody>
          <a:bodyPr anchor="ctr">
            <a:normAutofit/>
          </a:bodyPr>
          <a:lstStyle/>
          <a:p>
            <a:r>
              <a:rPr lang="en-US" sz="4200" dirty="0">
                <a:solidFill>
                  <a:schemeClr val="bg1"/>
                </a:solidFill>
              </a:rPr>
              <a:t>Impact of SMOTE</a:t>
            </a:r>
          </a:p>
        </p:txBody>
      </p:sp>
      <p:sp>
        <p:nvSpPr>
          <p:cNvPr id="17"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490721" y="97765"/>
            <a:ext cx="5170932" cy="3824377"/>
          </a:xfrm>
        </p:spPr>
        <p:txBody>
          <a:bodyPr anchor="ctr">
            <a:noAutofit/>
          </a:bodyPr>
          <a:lstStyle/>
          <a:p>
            <a:pPr>
              <a:lnSpc>
                <a:spcPct val="90000"/>
              </a:lnSpc>
            </a:pPr>
            <a:r>
              <a:rPr lang="en-US" sz="2000" dirty="0"/>
              <a:t>Addressed class imbalance in fraudulent transactions.</a:t>
            </a:r>
          </a:p>
          <a:p>
            <a:pPr>
              <a:lnSpc>
                <a:spcPct val="90000"/>
              </a:lnSpc>
            </a:pPr>
            <a:r>
              <a:rPr lang="en-US" sz="2000" dirty="0"/>
              <a:t>Enhanced model accuracy for minority class detection.</a:t>
            </a:r>
          </a:p>
          <a:p>
            <a:pPr>
              <a:lnSpc>
                <a:spcPct val="90000"/>
              </a:lnSpc>
            </a:pPr>
            <a:r>
              <a:rPr lang="en-US" sz="2000" dirty="0"/>
              <a:t>Increased recall without compromising precision.</a:t>
            </a:r>
          </a:p>
          <a:p>
            <a:pPr>
              <a:lnSpc>
                <a:spcPct val="90000"/>
              </a:lnSpc>
            </a:pPr>
            <a:r>
              <a:rPr lang="en-US" sz="2000" dirty="0"/>
              <a:t>Balanced dataset improved the overall learning process.</a:t>
            </a:r>
          </a:p>
          <a:p>
            <a:pPr>
              <a:lnSpc>
                <a:spcPct val="90000"/>
              </a:lnSpc>
            </a:pPr>
            <a:r>
              <a:rPr lang="en-US" sz="2000" dirty="0"/>
              <a:t>Techniques like cost-sensitive learning can be combined with SMOTE for further improvements in fraud detection scenarios.</a:t>
            </a:r>
          </a:p>
          <a:p>
            <a:pPr>
              <a:lnSpc>
                <a:spcPct val="90000"/>
              </a:lnSpc>
            </a:pPr>
            <a:endParaRPr lang="en-US" sz="2000" dirty="0"/>
          </a:p>
        </p:txBody>
      </p:sp>
      <p:pic>
        <p:nvPicPr>
          <p:cNvPr id="5" name="Picture 4" descr="A screen shot of a black background&#10;&#10;Description automatically generated">
            <a:extLst>
              <a:ext uri="{FF2B5EF4-FFF2-40B4-BE49-F238E27FC236}">
                <a16:creationId xmlns:a16="http://schemas.microsoft.com/office/drawing/2014/main" id="{6B2A8E75-9172-E6D0-5C52-BA3BA8FF34CA}"/>
              </a:ext>
            </a:extLst>
          </p:cNvPr>
          <p:cNvPicPr>
            <a:picLocks noChangeAspect="1"/>
          </p:cNvPicPr>
          <p:nvPr/>
        </p:nvPicPr>
        <p:blipFill>
          <a:blip r:embed="rId2"/>
          <a:stretch>
            <a:fillRect/>
          </a:stretch>
        </p:blipFill>
        <p:spPr>
          <a:xfrm>
            <a:off x="898779" y="3785748"/>
            <a:ext cx="7346442" cy="28100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1196195"/>
            <a:ext cx="5115608" cy="801049"/>
          </a:xfrm>
          <a:solidFill>
            <a:schemeClr val="tx1"/>
          </a:solidFill>
        </p:spPr>
        <p:txBody>
          <a:bodyPr anchor="b">
            <a:normAutofit fontScale="90000"/>
          </a:bodyPr>
          <a:lstStyle/>
          <a:p>
            <a:r>
              <a:rPr lang="en-US" sz="4700" dirty="0">
                <a:solidFill>
                  <a:schemeClr val="bg1"/>
                </a:solidFill>
              </a:rPr>
              <a:t>Graphs and Visuals</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214" y="2395728"/>
            <a:ext cx="3182691" cy="18288"/>
          </a:xfrm>
          <a:custGeom>
            <a:avLst/>
            <a:gdLst>
              <a:gd name="connsiteX0" fmla="*/ 0 w 3182691"/>
              <a:gd name="connsiteY0" fmla="*/ 0 h 18288"/>
              <a:gd name="connsiteX1" fmla="*/ 636538 w 3182691"/>
              <a:gd name="connsiteY1" fmla="*/ 0 h 18288"/>
              <a:gd name="connsiteX2" fmla="*/ 1273076 w 3182691"/>
              <a:gd name="connsiteY2" fmla="*/ 0 h 18288"/>
              <a:gd name="connsiteX3" fmla="*/ 1909615 w 3182691"/>
              <a:gd name="connsiteY3" fmla="*/ 0 h 18288"/>
              <a:gd name="connsiteX4" fmla="*/ 2482499 w 3182691"/>
              <a:gd name="connsiteY4" fmla="*/ 0 h 18288"/>
              <a:gd name="connsiteX5" fmla="*/ 3182691 w 3182691"/>
              <a:gd name="connsiteY5" fmla="*/ 0 h 18288"/>
              <a:gd name="connsiteX6" fmla="*/ 3182691 w 3182691"/>
              <a:gd name="connsiteY6" fmla="*/ 18288 h 18288"/>
              <a:gd name="connsiteX7" fmla="*/ 2609807 w 3182691"/>
              <a:gd name="connsiteY7" fmla="*/ 18288 h 18288"/>
              <a:gd name="connsiteX8" fmla="*/ 2068749 w 3182691"/>
              <a:gd name="connsiteY8" fmla="*/ 18288 h 18288"/>
              <a:gd name="connsiteX9" fmla="*/ 1432211 w 3182691"/>
              <a:gd name="connsiteY9" fmla="*/ 18288 h 18288"/>
              <a:gd name="connsiteX10" fmla="*/ 859327 w 3182691"/>
              <a:gd name="connsiteY10" fmla="*/ 18288 h 18288"/>
              <a:gd name="connsiteX11" fmla="*/ 0 w 3182691"/>
              <a:gd name="connsiteY11" fmla="*/ 18288 h 18288"/>
              <a:gd name="connsiteX12" fmla="*/ 0 w 3182691"/>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1" h="18288" fill="none" extrusionOk="0">
                <a:moveTo>
                  <a:pt x="0" y="0"/>
                </a:moveTo>
                <a:cubicBezTo>
                  <a:pt x="253588" y="25878"/>
                  <a:pt x="409323" y="-5359"/>
                  <a:pt x="636538" y="0"/>
                </a:cubicBezTo>
                <a:cubicBezTo>
                  <a:pt x="863753" y="5359"/>
                  <a:pt x="1013406" y="3458"/>
                  <a:pt x="1273076" y="0"/>
                </a:cubicBezTo>
                <a:cubicBezTo>
                  <a:pt x="1532746" y="-3458"/>
                  <a:pt x="1697408" y="-16840"/>
                  <a:pt x="1909615" y="0"/>
                </a:cubicBezTo>
                <a:cubicBezTo>
                  <a:pt x="2121822" y="16840"/>
                  <a:pt x="2213494" y="-18555"/>
                  <a:pt x="2482499" y="0"/>
                </a:cubicBezTo>
                <a:cubicBezTo>
                  <a:pt x="2751504" y="18555"/>
                  <a:pt x="3004132" y="-28750"/>
                  <a:pt x="3182691" y="0"/>
                </a:cubicBezTo>
                <a:cubicBezTo>
                  <a:pt x="3183133" y="4516"/>
                  <a:pt x="3181864" y="12266"/>
                  <a:pt x="3182691" y="18288"/>
                </a:cubicBezTo>
                <a:cubicBezTo>
                  <a:pt x="2947041" y="16687"/>
                  <a:pt x="2875741" y="22937"/>
                  <a:pt x="2609807" y="18288"/>
                </a:cubicBezTo>
                <a:cubicBezTo>
                  <a:pt x="2343873" y="13639"/>
                  <a:pt x="2331203" y="31729"/>
                  <a:pt x="2068749" y="18288"/>
                </a:cubicBezTo>
                <a:cubicBezTo>
                  <a:pt x="1806295" y="4847"/>
                  <a:pt x="1713773" y="47088"/>
                  <a:pt x="1432211" y="18288"/>
                </a:cubicBezTo>
                <a:cubicBezTo>
                  <a:pt x="1150649" y="-10512"/>
                  <a:pt x="982765" y="3747"/>
                  <a:pt x="859327" y="18288"/>
                </a:cubicBezTo>
                <a:cubicBezTo>
                  <a:pt x="735889" y="32829"/>
                  <a:pt x="254183" y="35231"/>
                  <a:pt x="0" y="18288"/>
                </a:cubicBezTo>
                <a:cubicBezTo>
                  <a:pt x="-306" y="11477"/>
                  <a:pt x="485" y="4355"/>
                  <a:pt x="0" y="0"/>
                </a:cubicBezTo>
                <a:close/>
              </a:path>
              <a:path w="3182691" h="18288" stroke="0" extrusionOk="0">
                <a:moveTo>
                  <a:pt x="0" y="0"/>
                </a:moveTo>
                <a:cubicBezTo>
                  <a:pt x="247695" y="-19360"/>
                  <a:pt x="392581" y="-28596"/>
                  <a:pt x="572884" y="0"/>
                </a:cubicBezTo>
                <a:cubicBezTo>
                  <a:pt x="753187" y="28596"/>
                  <a:pt x="922042" y="4121"/>
                  <a:pt x="1113942" y="0"/>
                </a:cubicBezTo>
                <a:cubicBezTo>
                  <a:pt x="1305842" y="-4121"/>
                  <a:pt x="1501806" y="28092"/>
                  <a:pt x="1686826" y="0"/>
                </a:cubicBezTo>
                <a:cubicBezTo>
                  <a:pt x="1871846" y="-28092"/>
                  <a:pt x="2170181" y="-20672"/>
                  <a:pt x="2323364" y="0"/>
                </a:cubicBezTo>
                <a:cubicBezTo>
                  <a:pt x="2476547" y="20672"/>
                  <a:pt x="2919163" y="6097"/>
                  <a:pt x="3182691" y="0"/>
                </a:cubicBezTo>
                <a:cubicBezTo>
                  <a:pt x="3183268" y="4624"/>
                  <a:pt x="3183510" y="11191"/>
                  <a:pt x="3182691" y="18288"/>
                </a:cubicBezTo>
                <a:cubicBezTo>
                  <a:pt x="3026064" y="-10849"/>
                  <a:pt x="2775005" y="23067"/>
                  <a:pt x="2546153" y="18288"/>
                </a:cubicBezTo>
                <a:cubicBezTo>
                  <a:pt x="2317301" y="13509"/>
                  <a:pt x="2164351" y="-9884"/>
                  <a:pt x="1845961" y="18288"/>
                </a:cubicBezTo>
                <a:cubicBezTo>
                  <a:pt x="1527571" y="46460"/>
                  <a:pt x="1455006" y="5824"/>
                  <a:pt x="1304903" y="18288"/>
                </a:cubicBezTo>
                <a:cubicBezTo>
                  <a:pt x="1154800" y="30752"/>
                  <a:pt x="942107" y="-12056"/>
                  <a:pt x="604711" y="18288"/>
                </a:cubicBezTo>
                <a:cubicBezTo>
                  <a:pt x="267315" y="48632"/>
                  <a:pt x="141927" y="-8395"/>
                  <a:pt x="0" y="18288"/>
                </a:cubicBezTo>
                <a:cubicBezTo>
                  <a:pt x="-171" y="12755"/>
                  <a:pt x="-690" y="793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0060" y="2706623"/>
            <a:ext cx="5170932" cy="4027731"/>
          </a:xfrm>
        </p:spPr>
        <p:txBody>
          <a:bodyPr>
            <a:noAutofit/>
          </a:bodyPr>
          <a:lstStyle/>
          <a:p>
            <a:pPr>
              <a:lnSpc>
                <a:spcPct val="90000"/>
              </a:lnSpc>
            </a:pPr>
            <a:r>
              <a:rPr lang="en-US" sz="2600" dirty="0"/>
              <a:t>Include visuals for:</a:t>
            </a:r>
          </a:p>
          <a:p>
            <a:pPr marL="0" indent="0">
              <a:lnSpc>
                <a:spcPct val="90000"/>
              </a:lnSpc>
              <a:buNone/>
            </a:pPr>
            <a:r>
              <a:rPr lang="en-US" sz="2600" dirty="0"/>
              <a:t>    - Dataset distribution before and  </a:t>
            </a:r>
          </a:p>
          <a:p>
            <a:pPr marL="0" indent="0">
              <a:lnSpc>
                <a:spcPct val="90000"/>
              </a:lnSpc>
              <a:buNone/>
            </a:pPr>
            <a:r>
              <a:rPr lang="en-US" sz="2600" dirty="0"/>
              <a:t>       after SMOTE.</a:t>
            </a:r>
          </a:p>
          <a:p>
            <a:pPr marL="0" indent="0">
              <a:lnSpc>
                <a:spcPct val="90000"/>
              </a:lnSpc>
              <a:buNone/>
            </a:pPr>
            <a:r>
              <a:rPr lang="en-US" sz="2600" dirty="0"/>
              <a:t>    - Precision-Recall metrics and ROC  	curves  </a:t>
            </a:r>
          </a:p>
          <a:p>
            <a:pPr marL="0" indent="0">
              <a:lnSpc>
                <a:spcPct val="90000"/>
              </a:lnSpc>
              <a:buNone/>
            </a:pPr>
            <a:r>
              <a:rPr lang="en-US" sz="2600" dirty="0"/>
              <a:t>       for model performance.</a:t>
            </a:r>
          </a:p>
          <a:p>
            <a:pPr marL="0" indent="0">
              <a:lnSpc>
                <a:spcPct val="90000"/>
              </a:lnSpc>
              <a:buNone/>
            </a:pPr>
            <a:r>
              <a:rPr lang="en-US" sz="2600" dirty="0"/>
              <a:t>    - Model accuracy improvements</a:t>
            </a:r>
          </a:p>
          <a:p>
            <a:pPr marL="0" indent="0">
              <a:lnSpc>
                <a:spcPct val="90000"/>
              </a:lnSpc>
              <a:buNone/>
            </a:pPr>
            <a:r>
              <a:rPr lang="en-US" sz="2600" dirty="0"/>
              <a:t>       over iterations.</a:t>
            </a:r>
          </a:p>
          <a:p>
            <a:pPr marL="0" indent="0">
              <a:lnSpc>
                <a:spcPct val="90000"/>
              </a:lnSpc>
              <a:buNone/>
            </a:pPr>
            <a:endParaRPr lang="en-US" sz="2400" dirty="0"/>
          </a:p>
        </p:txBody>
      </p:sp>
      <p:pic>
        <p:nvPicPr>
          <p:cNvPr id="7" name="Picture 6" descr="A white background with black text&#10;&#10;Description automatically generated">
            <a:extLst>
              <a:ext uri="{FF2B5EF4-FFF2-40B4-BE49-F238E27FC236}">
                <a16:creationId xmlns:a16="http://schemas.microsoft.com/office/drawing/2014/main" id="{C7134FF1-C830-2E95-496A-B9734DF795A6}"/>
              </a:ext>
            </a:extLst>
          </p:cNvPr>
          <p:cNvPicPr>
            <a:picLocks noChangeAspect="1"/>
          </p:cNvPicPr>
          <p:nvPr/>
        </p:nvPicPr>
        <p:blipFill>
          <a:blip r:embed="rId2"/>
          <a:stretch>
            <a:fillRect/>
          </a:stretch>
        </p:blipFill>
        <p:spPr>
          <a:xfrm>
            <a:off x="6131052" y="2404871"/>
            <a:ext cx="2609850" cy="2696215"/>
          </a:xfrm>
          <a:prstGeom prst="rect">
            <a:avLst/>
          </a:prstGeom>
          <a:solidFill>
            <a:schemeClr val="tx1"/>
          </a:solid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951841"/>
          </a:xfrm>
          <a:solidFill>
            <a:schemeClr val="tx1"/>
          </a:solidFill>
        </p:spPr>
        <p:txBody>
          <a:bodyPr>
            <a:normAutofit/>
          </a:bodyPr>
          <a:lstStyle/>
          <a:p>
            <a:r>
              <a:rPr lang="en-US" sz="4700" dirty="0">
                <a:solidFill>
                  <a:schemeClr val="bg1"/>
                </a:solidFill>
              </a:rPr>
              <a:t>Limitations Identified</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3"/>
            <a:ext cx="7886700" cy="4563491"/>
          </a:xfrm>
        </p:spPr>
        <p:txBody>
          <a:bodyPr>
            <a:normAutofit fontScale="92500" lnSpcReduction="10000"/>
          </a:bodyPr>
          <a:lstStyle/>
          <a:p>
            <a:r>
              <a:rPr lang="en-US" sz="2800" dirty="0">
                <a:effectLst/>
                <a:latin typeface="Times New Roman" panose="02020603050405020304" pitchFamily="18" charset="0"/>
                <a:ea typeface="Calibri" panose="020F0502020204030204" pitchFamily="34" charset="0"/>
              </a:rPr>
              <a:t>Class Imbalance: Fraud detection is complicated by the low incidence of fraudulent transactions compared to legitimate ones.</a:t>
            </a:r>
          </a:p>
          <a:p>
            <a:r>
              <a:rPr lang="en-US" sz="2800" dirty="0">
                <a:effectLst/>
                <a:latin typeface="Times New Roman" panose="02020603050405020304" pitchFamily="18" charset="0"/>
                <a:ea typeface="Calibri" panose="020F0502020204030204" pitchFamily="34" charset="0"/>
              </a:rPr>
              <a:t>Computational Complexity: Processing large datasets with  PySpark requires significant computational resources. </a:t>
            </a:r>
            <a:endParaRPr lang="en-US" sz="2800" dirty="0"/>
          </a:p>
          <a:p>
            <a:r>
              <a:rPr lang="en-US" sz="2800" dirty="0"/>
              <a:t>Hyperparameter tuning (grid search) required extensive resources.</a:t>
            </a:r>
          </a:p>
          <a:p>
            <a:r>
              <a:rPr lang="en-US" sz="2800" dirty="0"/>
              <a:t>Simulated datasets limited model generalizability.</a:t>
            </a:r>
          </a:p>
          <a:p>
            <a:r>
              <a:rPr lang="en-US" sz="2800" dirty="0"/>
              <a:t>Heavy reliance on preprocessed data may limit flexibility in real-world scenarios.</a:t>
            </a:r>
          </a:p>
          <a:p>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991063"/>
          </a:xfrm>
          <a:solidFill>
            <a:schemeClr val="tx1"/>
          </a:solidFill>
        </p:spPr>
        <p:txBody>
          <a:bodyPr>
            <a:normAutofit/>
          </a:bodyPr>
          <a:lstStyle/>
          <a:p>
            <a:r>
              <a:rPr lang="en-US" sz="4700" dirty="0">
                <a:solidFill>
                  <a:schemeClr val="bg1"/>
                </a:solidFill>
              </a:rPr>
              <a:t>Phase Outcome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28650" y="1929384"/>
            <a:ext cx="7886700" cy="4723422"/>
          </a:xfrm>
        </p:spPr>
        <p:txBody>
          <a:bodyPr>
            <a:normAutofit/>
          </a:bodyPr>
          <a:lstStyle/>
          <a:p>
            <a:r>
              <a:rPr lang="en-US" sz="2400" dirty="0"/>
              <a:t>Addressing class imbalance early is critical for model success.</a:t>
            </a:r>
          </a:p>
          <a:p>
            <a:r>
              <a:rPr lang="en-US" sz="2400" dirty="0"/>
              <a:t>PySpark is effective for handling large-scale transactional data.</a:t>
            </a:r>
          </a:p>
          <a:p>
            <a:r>
              <a:rPr lang="en-US" sz="2400" dirty="0"/>
              <a:t>SMOTE significantly improves minority class detection.</a:t>
            </a:r>
          </a:p>
          <a:p>
            <a:r>
              <a:rPr lang="en-US" sz="2400" dirty="0"/>
              <a:t>Evaluation metrics must focus on imbalanced dataset distinction.</a:t>
            </a:r>
          </a:p>
          <a:p>
            <a:r>
              <a:rPr lang="en-US" sz="2400" dirty="0"/>
              <a:t>Designing solutions that scale efficiently with increasing data volume is essential for real-world applications in fraud detection.</a:t>
            </a:r>
          </a:p>
          <a:p>
            <a:endParaRPr lang="en-US" sz="2400" dirty="0"/>
          </a:p>
          <a:p>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919981"/>
          </a:xfrm>
          <a:solidFill>
            <a:schemeClr val="tx1"/>
          </a:solidFill>
        </p:spPr>
        <p:txBody>
          <a:bodyPr>
            <a:normAutofit/>
          </a:bodyPr>
          <a:lstStyle/>
          <a:p>
            <a:r>
              <a:rPr lang="en-US" sz="4700" dirty="0">
                <a:solidFill>
                  <a:schemeClr val="bg1"/>
                </a:solidFill>
              </a:rPr>
              <a:t>Phase Outcome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F78ABC42-48C9-D5CD-224C-DD98833392F7}"/>
              </a:ext>
            </a:extLst>
          </p:cNvPr>
          <p:cNvGraphicFramePr>
            <a:graphicFrameLocks noGrp="1"/>
          </p:cNvGraphicFramePr>
          <p:nvPr>
            <p:ph idx="1"/>
          </p:nvPr>
        </p:nvGraphicFramePr>
        <p:xfrm>
          <a:off x="628650" y="1929384"/>
          <a:ext cx="7886700" cy="47077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a:solidFill>
            <a:schemeClr val="tx1"/>
          </a:solidFill>
        </p:spPr>
        <p:txBody>
          <a:bodyPr anchor="ctr">
            <a:normAutofit/>
          </a:bodyPr>
          <a:lstStyle/>
          <a:p>
            <a:r>
              <a:rPr lang="en-US" sz="4200" dirty="0">
                <a:solidFill>
                  <a:schemeClr val="bg1"/>
                </a:solidFill>
              </a:rPr>
              <a:t>Conclusion </a:t>
            </a:r>
          </a:p>
        </p:txBody>
      </p:sp>
      <p:sp>
        <p:nvSpPr>
          <p:cNvPr id="3" name="Content Placeholder 2"/>
          <p:cNvSpPr>
            <a:spLocks noGrp="1"/>
          </p:cNvSpPr>
          <p:nvPr>
            <p:ph idx="1"/>
          </p:nvPr>
        </p:nvSpPr>
        <p:spPr>
          <a:xfrm>
            <a:off x="783771" y="2656947"/>
            <a:ext cx="7455989" cy="3684657"/>
          </a:xfrm>
        </p:spPr>
        <p:txBody>
          <a:bodyPr anchor="ctr">
            <a:noAutofit/>
          </a:bodyPr>
          <a:lstStyle/>
          <a:p>
            <a:r>
              <a:rPr lang="en-US" sz="2400" dirty="0"/>
              <a:t>This credit card fraud detection system leverages a PySpark-based pipeline to efficiently process large-scale transactional data. It effectively tackles issues such as class imbalance, scalability, and ethical considerations to deliver precise and trustworthy fraud detection insights. Designed with advanced visualization features, it empowers analysts to identify and interpret fraud patterns effortlessly. With a strong emphasis on technical reliability, this solution serves as a robust and responsible tool for combating credit card fraud.</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TM03090430[[fn=Banded]]</Template>
  <TotalTime>3724</TotalTime>
  <Words>671</Words>
  <Application>Microsoft Office PowerPoint</Application>
  <PresentationFormat>On-screen Show (4:3)</PresentationFormat>
  <Paragraphs>88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Introduction </vt:lpstr>
      <vt:lpstr>Problem Statement</vt:lpstr>
      <vt:lpstr>Technical Blueprint</vt:lpstr>
      <vt:lpstr>Dataset Insights</vt:lpstr>
      <vt:lpstr>Evaluation Metrics</vt:lpstr>
      <vt:lpstr>Impact of SMOTE</vt:lpstr>
      <vt:lpstr>Graphs and Visuals</vt:lpstr>
      <vt:lpstr>Limitations Identified</vt:lpstr>
      <vt:lpstr>Phase Outcome </vt:lpstr>
      <vt:lpstr>Phase Outcome</vt:lpstr>
      <vt:lpstr>Conclusion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Samved T</cp:lastModifiedBy>
  <cp:revision>9</cp:revision>
  <dcterms:created xsi:type="dcterms:W3CDTF">2013-01-27T09:14:16Z</dcterms:created>
  <dcterms:modified xsi:type="dcterms:W3CDTF">2024-12-03T20:59:57Z</dcterms:modified>
  <cp:category/>
</cp:coreProperties>
</file>